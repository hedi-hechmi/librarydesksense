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Average"/>
      <p:regular r:id="rId22"/>
    </p:embeddedFont>
    <p:embeddedFont>
      <p:font typeface="Oswald"/>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Average-regular.fnt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font" Target="fonts/Oswald-bold.fntdata"/><Relationship Id="rId12" Type="http://schemas.openxmlformats.org/officeDocument/2006/relationships/slide" Target="slides/slide7.xml"/><Relationship Id="rId23" Type="http://schemas.openxmlformats.org/officeDocument/2006/relationships/font" Target="fonts/Oswa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Good morning Professor. My name is Hedi Hechmi, and today I'll present LibraryDeskSense, an IoT-based monitoring system developed for the Internet of Things course. </a:t>
            </a:r>
            <a:endParaRPr>
              <a:solidFill>
                <a:schemeClr val="dk1"/>
              </a:solidFill>
            </a:endParaRPr>
          </a:p>
          <a:p>
            <a:pPr indent="0" lvl="0" marL="0" rtl="0" algn="l">
              <a:spcBef>
                <a:spcPts val="0"/>
              </a:spcBef>
              <a:spcAft>
                <a:spcPts val="0"/>
              </a:spcAft>
              <a:buNone/>
            </a:pPr>
            <a:r>
              <a:rPr lang="en">
                <a:solidFill>
                  <a:schemeClr val="dk1"/>
                </a:solidFill>
              </a:rPr>
              <a:t>The goal of the project is to monitor library study desks in real time tracking occupancy, ambient noise, and lighting conditions.</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332862adb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332862adb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Libraries and study rooms are shared spaces used by many students. Currently, if you want to find a good desk, you have to walk around and check each one manually which is time-consuming. Traditional occupancy solutions only count how many people enter the library, but they don't tell you which specific desks are available, or which areas are quiet, or which have good lighting.</a:t>
            </a:r>
            <a:endParaRPr/>
          </a:p>
          <a:p>
            <a:pPr indent="0" lvl="0" marL="0" rtl="0" algn="l">
              <a:spcBef>
                <a:spcPts val="0"/>
              </a:spcBef>
              <a:spcAft>
                <a:spcPts val="0"/>
              </a:spcAft>
              <a:buClr>
                <a:schemeClr val="dk1"/>
              </a:buClr>
              <a:buSzPts val="1100"/>
              <a:buFont typeface="Arial"/>
              <a:buNone/>
            </a:pPr>
            <a:r>
              <a:rPr lang="en"/>
              <a:t>Our project addresses this by placing a small, low-cost sensor node on each desk. This node monitors three things in real time: whether the desk is occupied, the ambient noise level, and the lighting intensity. All this information is sent to a central dashboard that students and librarians can access</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332862adb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332862adb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system follows a classic three-tier IoT architecture. On the left, we have </a:t>
            </a:r>
            <a:endParaRPr/>
          </a:p>
          <a:p>
            <a:pPr indent="0" lvl="0" marL="0" rtl="0" algn="l">
              <a:spcBef>
                <a:spcPts val="0"/>
              </a:spcBef>
              <a:spcAft>
                <a:spcPts val="0"/>
              </a:spcAft>
              <a:buClr>
                <a:schemeClr val="dk1"/>
              </a:buClr>
              <a:buSzPts val="1100"/>
              <a:buFont typeface="Arial"/>
              <a:buNone/>
            </a:pPr>
            <a:r>
              <a:rPr lang="en"/>
              <a:t>Tier 1, the Edge an ESP32 microcontroller connected to three sensors: an ultrasonic sensor for occupancy detection, a sound sensor for noise, and a light-dependent resistor for ambient lighting.</a:t>
            </a:r>
            <a:endParaRPr/>
          </a:p>
          <a:p>
            <a:pPr indent="0" lvl="0" marL="0" rtl="0" algn="l">
              <a:spcBef>
                <a:spcPts val="0"/>
              </a:spcBef>
              <a:spcAft>
                <a:spcPts val="0"/>
              </a:spcAft>
              <a:buNone/>
            </a:pPr>
            <a:r>
              <a:rPr lang="en"/>
              <a:t>In the middle, </a:t>
            </a:r>
            <a:endParaRPr/>
          </a:p>
          <a:p>
            <a:pPr indent="0" lvl="0" marL="0" rtl="0" algn="l">
              <a:spcBef>
                <a:spcPts val="0"/>
              </a:spcBef>
              <a:spcAft>
                <a:spcPts val="0"/>
              </a:spcAft>
              <a:buClr>
                <a:schemeClr val="dk1"/>
              </a:buClr>
              <a:buSzPts val="1100"/>
              <a:buFont typeface="Arial"/>
              <a:buNone/>
            </a:pPr>
            <a:r>
              <a:rPr lang="en"/>
              <a:t>Tier 2 is the Data Proxy, a Python application running on the laptop. It receives telemetry from the ESP32 through MQTT, HTTP, or CoAP, and forwards it to the database.</a:t>
            </a:r>
            <a:endParaRPr/>
          </a:p>
          <a:p>
            <a:pPr indent="0" lvl="0" marL="0" rtl="0" algn="l">
              <a:spcBef>
                <a:spcPts val="0"/>
              </a:spcBef>
              <a:spcAft>
                <a:spcPts val="0"/>
              </a:spcAft>
              <a:buNone/>
            </a:pPr>
            <a:r>
              <a:rPr lang="en"/>
              <a:t>On the right, </a:t>
            </a:r>
            <a:endParaRPr/>
          </a:p>
          <a:p>
            <a:pPr indent="0" lvl="0" marL="0" rtl="0" algn="l">
              <a:spcBef>
                <a:spcPts val="0"/>
              </a:spcBef>
              <a:spcAft>
                <a:spcPts val="0"/>
              </a:spcAft>
              <a:buClr>
                <a:schemeClr val="dk1"/>
              </a:buClr>
              <a:buSzPts val="1100"/>
              <a:buFont typeface="Arial"/>
              <a:buNone/>
            </a:pPr>
            <a:r>
              <a:rPr lang="en"/>
              <a:t>Tier 3 is the Backend: InfluxDB stores all the time-series data, and Grafana visualizes it in real time on a dashboard. There's also an ARIMA forecasting module that predicts future noise and light levels.</a:t>
            </a:r>
            <a:endParaRPr/>
          </a:p>
          <a:p>
            <a:pPr indent="0" lvl="0" marL="0" rtl="0" algn="l">
              <a:spcBef>
                <a:spcPts val="0"/>
              </a:spcBef>
              <a:spcAft>
                <a:spcPts val="0"/>
              </a:spcAft>
              <a:buNone/>
            </a:pPr>
            <a:r>
              <a:rPr lang="en"/>
              <a: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f332862adb_0_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f332862adb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hardware setup uses an ESP32 DevKit V1, which is a low-cost microcontroller with built-in Wi-Fi and Bluetooth. Three sensors are connected to it:</a:t>
            </a:r>
            <a:endParaRPr/>
          </a:p>
          <a:p>
            <a:pPr indent="0" lvl="0" marL="0" rtl="0" algn="l">
              <a:spcBef>
                <a:spcPts val="0"/>
              </a:spcBef>
              <a:spcAft>
                <a:spcPts val="0"/>
              </a:spcAft>
              <a:buClr>
                <a:schemeClr val="dk1"/>
              </a:buClr>
              <a:buSzPts val="1100"/>
              <a:buFont typeface="Arial"/>
              <a:buNone/>
            </a:pPr>
            <a:r>
              <a:rPr lang="en"/>
              <a:t>First, the HC-SR04 ultrasonic sensor for occupancy detection. It measures distance by emitting a sound pulse and timing the echo. If the distance is below 50 cm, we consider the desk occupied. It's connected to GPIO 5 for the trigger signal and GPIO 18 for the echo.</a:t>
            </a:r>
            <a:endParaRPr/>
          </a:p>
          <a:p>
            <a:pPr indent="0" lvl="0" marL="0" rtl="0" algn="l">
              <a:spcBef>
                <a:spcPts val="0"/>
              </a:spcBef>
              <a:spcAft>
                <a:spcPts val="0"/>
              </a:spcAft>
              <a:buClr>
                <a:schemeClr val="dk1"/>
              </a:buClr>
              <a:buSzPts val="1100"/>
              <a:buFont typeface="Arial"/>
              <a:buNone/>
            </a:pPr>
            <a:r>
              <a:rPr lang="en"/>
              <a:t>Second, an analog sound sensor connected to GPIO 35. Since GPIO 35 is one of the ESP32's input-only ADC pins, it's perfect for reading the analog voltage from the microphone.</a:t>
            </a:r>
            <a:endParaRPr/>
          </a:p>
          <a:p>
            <a:pPr indent="0" lvl="0" marL="0" rtl="0" algn="l">
              <a:spcBef>
                <a:spcPts val="0"/>
              </a:spcBef>
              <a:spcAft>
                <a:spcPts val="0"/>
              </a:spcAft>
              <a:buClr>
                <a:schemeClr val="dk1"/>
              </a:buClr>
              <a:buSzPts val="1100"/>
              <a:buFont typeface="Arial"/>
              <a:buNone/>
            </a:pPr>
            <a:r>
              <a:rPr lang="en"/>
              <a:t>Third, a light-dependent resistor forming a voltage divider with a 5 kΩ resistor, connected to GPIO 34 — also an ADC input. The LDR's resistance changes with light, and the voltage divider converts that into a voltage the ADC can read.</a:t>
            </a:r>
            <a:endParaRPr/>
          </a:p>
          <a:p>
            <a:pPr indent="0" lvl="0" marL="0" rtl="0" algn="l">
              <a:spcBef>
                <a:spcPts val="0"/>
              </a:spcBef>
              <a:spcAft>
                <a:spcPts val="0"/>
              </a:spcAft>
              <a:buClr>
                <a:schemeClr val="dk1"/>
              </a:buClr>
              <a:buSzPts val="1100"/>
              <a:buFont typeface="Arial"/>
              <a:buNone/>
            </a:pPr>
            <a:r>
              <a:rPr lang="en"/>
              <a:t>All ADC channels use 12-bit resolution and 12 dB attenuation, giving us a full 0–3.3 V input range with values from 0 to 4095</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332862adb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332862adb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Here is the actual wiring diagram. I used Fritzing to create it. Fritzing is a free, open-source electronics design tool.</a:t>
            </a:r>
            <a:endParaRPr/>
          </a:p>
          <a:p>
            <a:pPr indent="0" lvl="0" marL="0" rtl="0" algn="l">
              <a:spcBef>
                <a:spcPts val="0"/>
              </a:spcBef>
              <a:spcAft>
                <a:spcPts val="0"/>
              </a:spcAft>
              <a:buClr>
                <a:schemeClr val="dk1"/>
              </a:buClr>
              <a:buSzPts val="1100"/>
              <a:buFont typeface="Arial"/>
              <a:buNone/>
            </a:pPr>
            <a:r>
              <a:rPr lang="en"/>
              <a:t>On the right, the HC-SR04 ultrasonic sensor is connected to GPIO 5 for the trigger and GPIO 18 for the echo.</a:t>
            </a:r>
            <a:endParaRPr/>
          </a:p>
          <a:p>
            <a:pPr indent="0" lvl="0" marL="0" rtl="0" algn="l">
              <a:spcBef>
                <a:spcPts val="0"/>
              </a:spcBef>
              <a:spcAft>
                <a:spcPts val="0"/>
              </a:spcAft>
              <a:buClr>
                <a:schemeClr val="dk1"/>
              </a:buClr>
              <a:buSzPts val="1100"/>
              <a:buFont typeface="Arial"/>
              <a:buNone/>
            </a:pPr>
            <a:r>
              <a:rPr lang="en"/>
              <a:t>In the middle, the sound sensor's analog output is connected to GPIO 35.</a:t>
            </a:r>
            <a:endParaRPr/>
          </a:p>
          <a:p>
            <a:pPr indent="0" lvl="0" marL="0" rtl="0" algn="l">
              <a:spcBef>
                <a:spcPts val="0"/>
              </a:spcBef>
              <a:spcAft>
                <a:spcPts val="0"/>
              </a:spcAft>
              <a:buClr>
                <a:schemeClr val="dk1"/>
              </a:buClr>
              <a:buSzPts val="1100"/>
              <a:buFont typeface="Arial"/>
              <a:buNone/>
            </a:pPr>
            <a:r>
              <a:rPr lang="en"/>
              <a:t>On the left, the LDR forms a voltage divider with a fixed resistor, with the midpoint connected to GPIO 34.</a:t>
            </a:r>
            <a:endParaRPr/>
          </a:p>
          <a:p>
            <a:pPr indent="0" lvl="0" marL="0" rtl="0" algn="l">
              <a:spcBef>
                <a:spcPts val="0"/>
              </a:spcBef>
              <a:spcAft>
                <a:spcPts val="0"/>
              </a:spcAft>
              <a:buClr>
                <a:schemeClr val="dk1"/>
              </a:buClr>
              <a:buSzPts val="1100"/>
              <a:buFont typeface="Arial"/>
              <a:buNone/>
            </a:pPr>
            <a:r>
              <a:rPr lang="en"/>
              <a:t>The ultrasonic sensor and the LDR share a 5V power supply, while the sound sensor is powered by 3.3V. All three sensors share a common ground with the ESP32.</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554d775e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f554d775e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firmware is built with ESP-IDF version 5.3.5, not Arduino, as required by the project. It uses FreeRTOS, a real-time operating system, to run four tasks concurrently.</a:t>
            </a:r>
            <a:endParaRPr/>
          </a:p>
          <a:p>
            <a:pPr indent="0" lvl="0" marL="0" rtl="0" algn="l">
              <a:spcBef>
                <a:spcPts val="0"/>
              </a:spcBef>
              <a:spcAft>
                <a:spcPts val="0"/>
              </a:spcAft>
              <a:buNone/>
            </a:pPr>
            <a:r>
              <a:rPr lang="en"/>
              <a:t>The Occupancy Task runs every second and reads the ultrasonic sensor to detect if someone is at the desk. The Noise Task runs twice per second and takes 100 rapid ADC samples to compute the peak-to-peak noise level. The Light Task runs every two seconds and reads the LDR voltage. Finally, the Event Task publishes telemetry and detects state changes.</a:t>
            </a:r>
            <a:endParaRPr/>
          </a:p>
          <a:p>
            <a:pPr indent="0" lvl="0" marL="0" rtl="0" algn="l">
              <a:spcBef>
                <a:spcPts val="0"/>
              </a:spcBef>
              <a:spcAft>
                <a:spcPts val="0"/>
              </a:spcAft>
              <a:buNone/>
            </a:pPr>
            <a:r>
              <a:rPr lang="en"/>
              <a:t>To handle shared resources safely, I used two mutexes. The data_mutex protects the shared sensor variables that all tasks read and write. The adc_mutex protects the ADC1 hardware, because two tasks(  noise and light ) both use it and cannot access it at the same time.</a:t>
            </a:r>
            <a:endParaRPr/>
          </a:p>
          <a:p>
            <a:pPr indent="0" lvl="0" marL="0" rtl="0" algn="l">
              <a:spcBef>
                <a:spcPts val="0"/>
              </a:spcBef>
              <a:spcAft>
                <a:spcPts val="0"/>
              </a:spcAft>
              <a:buNone/>
            </a:pPr>
            <a:r>
              <a:rPr lang="en"/>
              <a:t>I used the snapshot pattern: each task briefly locks the mutex, copies the shared data into local variables, unlocks, and then works only on the local copies. This minimizes lock time and prevents blocking other tasks.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554d775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f554d775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system uses three protocols, each playing a different role.</a:t>
            </a:r>
            <a:endParaRPr/>
          </a:p>
          <a:p>
            <a:pPr indent="0" lvl="0" marL="0" rtl="0" algn="l">
              <a:spcBef>
                <a:spcPts val="0"/>
              </a:spcBef>
              <a:spcAft>
                <a:spcPts val="0"/>
              </a:spcAft>
              <a:buNone/>
            </a:pPr>
            <a:r>
              <a:rPr lang="en"/>
              <a:t>MQTT is used for asynchronous event notifications and runtime configuration. It runs on TCP through a Mosquitto broker on my laptop. The ESP32 publishes telemetry and event messages, and subscribes to five configuration topics that let me change thresholds, sampling rate, and the active communication mode all at runtime, without reflashing.</a:t>
            </a:r>
            <a:endParaRPr/>
          </a:p>
          <a:p>
            <a:pPr indent="0" lvl="0" marL="0" rtl="0" algn="l">
              <a:spcBef>
                <a:spcPts val="0"/>
              </a:spcBef>
              <a:spcAft>
                <a:spcPts val="0"/>
              </a:spcAft>
              <a:buNone/>
            </a:pPr>
            <a:r>
              <a:rPr lang="en"/>
              <a:t>HTTP is one of the two options for telemetry. It uses TCP, which is reliable, but the headers are heavy around 200 to 500 bytes per message.</a:t>
            </a:r>
            <a:endParaRPr/>
          </a:p>
          <a:p>
            <a:pPr indent="0" lvl="0" marL="0" rtl="0" algn="l">
              <a:spcBef>
                <a:spcPts val="0"/>
              </a:spcBef>
              <a:spcAft>
                <a:spcPts val="0"/>
              </a:spcAft>
              <a:buNone/>
            </a:pPr>
            <a:r>
              <a:rPr lang="en"/>
              <a:t>CoAP is the second telemetry option. It uses UDP, which is connectionless and much lighter around 15 to 50 bytes per message. I use non-confirmable messages, meaning the ESP32 does not wait for acknowledgment, making it very fast.</a:t>
            </a:r>
            <a:endParaRPr/>
          </a:p>
          <a:p>
            <a:pPr indent="0" lvl="0" marL="0" rtl="0" algn="l">
              <a:spcBef>
                <a:spcPts val="0"/>
              </a:spcBef>
              <a:spcAft>
                <a:spcPts val="0"/>
              </a:spcAft>
              <a:buNone/>
            </a:pPr>
            <a:r>
              <a:rPr lang="en"/>
              <a:t>The user can switch between HTTP and CoAP at runtime simply by publishing to the "communication_mode" MQTT topic. This allows dynamic protocol comparison, which is exactly what I use for the benchmark.</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554d775e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554d775e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One of the required features is runtime configuration. The ESP32 subscribes to five MQTT topics that let me change important parameters without reflashing the device.</a:t>
            </a:r>
            <a:endParaRPr/>
          </a:p>
          <a:p>
            <a:pPr indent="0" lvl="0" marL="0" rtl="0" algn="l">
              <a:spcBef>
                <a:spcPts val="0"/>
              </a:spcBef>
              <a:spcAft>
                <a:spcPts val="0"/>
              </a:spcAft>
              <a:buClr>
                <a:schemeClr val="dk1"/>
              </a:buClr>
              <a:buSzPts val="1100"/>
              <a:buFont typeface="Arial"/>
              <a:buNone/>
            </a:pPr>
            <a:r>
              <a:rPr lang="en"/>
              <a:t>I can update the sampling rate, the noise threshold, the light threshold, the occupancy distance threshold, and even the active communication mode switching between MQTT, HTTP, and CoAP live.</a:t>
            </a:r>
            <a:endParaRPr/>
          </a:p>
          <a:p>
            <a:pPr indent="0" lvl="0" marL="0" rtl="0" algn="l">
              <a:spcBef>
                <a:spcPts val="0"/>
              </a:spcBef>
              <a:spcAft>
                <a:spcPts val="0"/>
              </a:spcAft>
              <a:buClr>
                <a:schemeClr val="dk1"/>
              </a:buClr>
              <a:buSzPts val="1100"/>
              <a:buFont typeface="Arial"/>
              <a:buNone/>
            </a:pPr>
            <a:r>
              <a:rPr lang="en"/>
              <a:t>For example, if I want to make the system more sensitive to noise, I just publish a new value like "300" to the noise threshold topic using the Mosquitto publish command. The ESP32's MQTT event handler receives the message,and updates the corresponding global variable.</a:t>
            </a:r>
            <a:endParaRPr/>
          </a:p>
          <a:p>
            <a:pPr indent="0" lvl="0" marL="0" rtl="0" algn="l">
              <a:spcBef>
                <a:spcPts val="0"/>
              </a:spcBef>
              <a:spcAft>
                <a:spcPts val="0"/>
              </a:spcAft>
              <a:buClr>
                <a:schemeClr val="dk1"/>
              </a:buClr>
              <a:buSzPts val="1100"/>
              <a:buFont typeface="Arial"/>
              <a:buNone/>
            </a:pPr>
            <a:r>
              <a:rPr lang="en"/>
              <a:t>This makes the system flexible: I can tune it in real time during my live demo, and it also enables the protocol comparison  I can benchmark HTTP versus CoAP simply by switching modes over MQTT.</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554d775e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554d775e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backend has three tiers, all running on my laptop.</a:t>
            </a:r>
            <a:endParaRPr/>
          </a:p>
          <a:p>
            <a:pPr indent="0" lvl="0" marL="0" rtl="0" algn="l">
              <a:spcBef>
                <a:spcPts val="0"/>
              </a:spcBef>
              <a:spcAft>
                <a:spcPts val="0"/>
              </a:spcAft>
              <a:buClr>
                <a:schemeClr val="dk1"/>
              </a:buClr>
              <a:buSzPts val="1100"/>
              <a:buFont typeface="Arial"/>
              <a:buNone/>
            </a:pPr>
            <a:r>
              <a:rPr lang="en"/>
              <a:t>The first tier is the Python Proxy, which I wrote in proxy.py. It runs two things in parallel using threading: an MQTT subscriber that listens to all "desk/" topics, and a Flask HTTP server on port 8080 that accepts telemetry via POST. Every message it receives is immediately written to InfluxDB it does not store anything itself.</a:t>
            </a:r>
            <a:endParaRPr/>
          </a:p>
          <a:p>
            <a:pPr indent="0" lvl="0" marL="0" rtl="0" algn="l">
              <a:spcBef>
                <a:spcPts val="0"/>
              </a:spcBef>
              <a:spcAft>
                <a:spcPts val="0"/>
              </a:spcAft>
              <a:buClr>
                <a:schemeClr val="dk1"/>
              </a:buClr>
              <a:buSzPts val="1100"/>
              <a:buFont typeface="Arial"/>
              <a:buNone/>
            </a:pPr>
            <a:r>
              <a:rPr lang="en"/>
              <a:t>The second tier is InfluxDB 2.7, a time-series database optimized for sensor data. I created an organization called LibraryDeskSense and a bucket called library_desk. Data is stored in three measurements: telemetry for sensor readings, event for occupancy and threshold events, and forecast for ARIMA predictions.</a:t>
            </a:r>
            <a:endParaRPr/>
          </a:p>
          <a:p>
            <a:pPr indent="0" lvl="0" marL="0" rtl="0" algn="l">
              <a:spcBef>
                <a:spcPts val="0"/>
              </a:spcBef>
              <a:spcAft>
                <a:spcPts val="0"/>
              </a:spcAft>
              <a:buClr>
                <a:schemeClr val="dk1"/>
              </a:buClr>
              <a:buSzPts val="1100"/>
              <a:buFont typeface="Arial"/>
              <a:buNone/>
            </a:pPr>
            <a:r>
              <a:rPr lang="en"/>
              <a:t>The third tier is Grafana 11.4, which queries InfluxDB using Flux and displays six real-time panels that refresh every second.</a:t>
            </a:r>
            <a:endParaRPr/>
          </a:p>
          <a:p>
            <a:pPr indent="0" lvl="0" marL="0" rtl="0" algn="l">
              <a:spcBef>
                <a:spcPts val="0"/>
              </a:spcBef>
              <a:spcAft>
                <a:spcPts val="0"/>
              </a:spcAft>
              <a:buNone/>
            </a:pPr>
            <a:r>
              <a:rPr lang="en"/>
              <a:t>The MQTT broker itself is Mosquitto 2.1, running as a Windows service on port 1883.</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f554d775e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f554d775e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Grafana dashboard is the main visualization for the system. It has six panels, all refreshing every second.</a:t>
            </a:r>
            <a:endParaRPr/>
          </a:p>
          <a:p>
            <a:pPr indent="0" lvl="0" marL="0" rtl="0" algn="l">
              <a:spcBef>
                <a:spcPts val="0"/>
              </a:spcBef>
              <a:spcAft>
                <a:spcPts val="0"/>
              </a:spcAft>
              <a:buClr>
                <a:schemeClr val="dk1"/>
              </a:buClr>
              <a:buSzPts val="1100"/>
              <a:buFont typeface="Arial"/>
              <a:buNone/>
            </a:pPr>
            <a:r>
              <a:rPr lang="en"/>
              <a:t>The first panel is the Desk Status - a large Stat panel showing OCCUPIED in red or FREE in green, based on the latest occupancy value.</a:t>
            </a:r>
            <a:endParaRPr/>
          </a:p>
          <a:p>
            <a:pPr indent="0" lvl="0" marL="0" rtl="0" algn="l">
              <a:spcBef>
                <a:spcPts val="0"/>
              </a:spcBef>
              <a:spcAft>
                <a:spcPts val="0"/>
              </a:spcAft>
              <a:buClr>
                <a:schemeClr val="dk1"/>
              </a:buClr>
              <a:buSzPts val="1100"/>
              <a:buFont typeface="Arial"/>
              <a:buNone/>
            </a:pPr>
            <a:r>
              <a:rPr lang="en"/>
              <a:t>The second panel is the Recent Events table, which lists the last 30 events with colored rows: blue for occupied, green for released, red for high noise, and orange for poor lighting.</a:t>
            </a:r>
            <a:endParaRPr/>
          </a:p>
          <a:p>
            <a:pPr indent="0" lvl="0" marL="0" rtl="0" algn="l">
              <a:spcBef>
                <a:spcPts val="0"/>
              </a:spcBef>
              <a:spcAft>
                <a:spcPts val="0"/>
              </a:spcAft>
              <a:buClr>
                <a:schemeClr val="dk1"/>
              </a:buClr>
              <a:buSzPts val="1100"/>
              <a:buFont typeface="Arial"/>
              <a:buNone/>
            </a:pPr>
            <a:r>
              <a:rPr lang="en"/>
              <a:t>The next three panels are time series charts for noise, light, and distance. The noise chart has a red threshold at 200, and the light chart has a threshold at 1000 with reversed colors — red below means poor lighting.</a:t>
            </a:r>
            <a:endParaRPr/>
          </a:p>
          <a:p>
            <a:pPr indent="0" lvl="0" marL="0" rtl="0" algn="l">
              <a:spcBef>
                <a:spcPts val="0"/>
              </a:spcBef>
              <a:spcAft>
                <a:spcPts val="0"/>
              </a:spcAft>
              <a:buClr>
                <a:schemeClr val="dk1"/>
              </a:buClr>
              <a:buSzPts val="1100"/>
              <a:buFont typeface="Arial"/>
              <a:buNone/>
            </a:pPr>
            <a:r>
              <a:rPr lang="en"/>
              <a:t>The last panel shows Noise Real vs Forecast. It overlays the actual measured noise (in blue) with the ARIMA forecast (in red dashed line) — this is where the forecasting module becomes visible to the user.</a:t>
            </a:r>
            <a:endParaRPr/>
          </a:p>
          <a:p>
            <a:pPr indent="0" lvl="0" marL="0" rtl="0" algn="l">
              <a:spcBef>
                <a:spcPts val="0"/>
              </a:spcBef>
              <a:spcAft>
                <a:spcPts val="0"/>
              </a:spcAft>
              <a:buNone/>
            </a:pPr>
            <a:r>
              <a:rPr lang="en"/>
              <a:t>I'll show this dashboard live during the demo.</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554d775e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f554d775e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we see those the 6 panels from the grafana dashboard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5b623900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f5b623900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For the analysis module, I implemented forecasting using ARIMA — Auto-Regressive Integrated Moving Average — in a Python script called forecast.py that runs continuously every 60 seconds.</a:t>
            </a:r>
            <a:endParaRPr/>
          </a:p>
          <a:p>
            <a:pPr indent="0" lvl="0" marL="0" rtl="0" algn="l">
              <a:spcBef>
                <a:spcPts val="0"/>
              </a:spcBef>
              <a:spcAft>
                <a:spcPts val="0"/>
              </a:spcAft>
              <a:buClr>
                <a:schemeClr val="dk1"/>
              </a:buClr>
              <a:buSzPts val="1100"/>
              <a:buFont typeface="Arial"/>
              <a:buNone/>
            </a:pPr>
            <a:r>
              <a:rPr lang="en"/>
              <a:t>Each cycle, it reads the last 30 minutes of noise data from InfluxDB using a Flux query. I chose ARIMA with order (2,1,2) — two autoregressive terms, one differencing step to make the series stationary, and two moving average terms.</a:t>
            </a:r>
            <a:endParaRPr/>
          </a:p>
          <a:p>
            <a:pPr indent="0" lvl="0" marL="0" rtl="0" algn="l">
              <a:spcBef>
                <a:spcPts val="0"/>
              </a:spcBef>
              <a:spcAft>
                <a:spcPts val="0"/>
              </a:spcAft>
              <a:buClr>
                <a:schemeClr val="dk1"/>
              </a:buClr>
              <a:buSzPts val="1100"/>
              <a:buFont typeface="Arial"/>
              <a:buNone/>
            </a:pPr>
            <a:r>
              <a:rPr lang="en"/>
              <a:t>To evaluate accuracy, I split the data 80/20 into train and test sets, fit the model on the training data, and compare predictions to the test set. The results are MAE around 16.5 and MSE around 409.6, meaning on average the prediction is off by about 16 noise units.</a:t>
            </a:r>
            <a:endParaRPr/>
          </a:p>
          <a:p>
            <a:pPr indent="0" lvl="0" marL="0" rtl="0" algn="l">
              <a:spcBef>
                <a:spcPts val="0"/>
              </a:spcBef>
              <a:spcAft>
                <a:spcPts val="0"/>
              </a:spcAft>
              <a:buClr>
                <a:schemeClr val="dk1"/>
              </a:buClr>
              <a:buSzPts val="1100"/>
              <a:buFont typeface="Arial"/>
              <a:buNone/>
            </a:pPr>
            <a:r>
              <a:rPr lang="en"/>
              <a:t>Because ambient noise is stochastic  talking, claps, background sounds are unpredictable — the forecast tends to converge to the local mean, which is expected behavior for this type of signal.</a:t>
            </a:r>
            <a:endParaRPr/>
          </a:p>
          <a:p>
            <a:pPr indent="0" lvl="0" marL="0" rtl="0" algn="l">
              <a:spcBef>
                <a:spcPts val="0"/>
              </a:spcBef>
              <a:spcAft>
                <a:spcPts val="0"/>
              </a:spcAft>
              <a:buClr>
                <a:schemeClr val="dk1"/>
              </a:buClr>
              <a:buSzPts val="1100"/>
              <a:buFont typeface="Arial"/>
              <a:buNone/>
            </a:pPr>
            <a:r>
              <a:rPr lang="en"/>
              <a:t>After evaluation, I refit the model on the full series and forecast 300 future seconds, writing them back to InfluxDB as a separate "forecast" measurement. Old forecasts are deleted first to avoid overlapping predictions appearing as a thick band in Grafana.</a:t>
            </a:r>
            <a:endParaRPr/>
          </a:p>
          <a:p>
            <a:pPr indent="0" lvl="0" marL="0" rtl="0" algn="l">
              <a:spcBef>
                <a:spcPts val="0"/>
              </a:spcBef>
              <a:spcAft>
                <a:spcPts val="0"/>
              </a:spcAft>
              <a:buNone/>
            </a:pPr>
            <a:r>
              <a:rPr lang="en"/>
              <a:t>The result is visualized live in the Real vs Forecast panel of the dashboard.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5c680704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5c680704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red line represent the </a:t>
            </a:r>
            <a:r>
              <a:rPr lang="en"/>
              <a:t>prediction</a:t>
            </a:r>
            <a:r>
              <a:rPr lang="en"/>
              <a:t>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f5b6239006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f5b6239006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To evaluate the communication overhead, I wrote benchmark.py which sends 100 identical JSON messages using each protocol and measures round-trip time, payload size, and success rate.</a:t>
            </a:r>
            <a:endParaRPr/>
          </a:p>
          <a:p>
            <a:pPr indent="0" lvl="0" marL="0" rtl="0" algn="l">
              <a:spcBef>
                <a:spcPts val="0"/>
              </a:spcBef>
              <a:spcAft>
                <a:spcPts val="0"/>
              </a:spcAft>
              <a:buClr>
                <a:schemeClr val="dk1"/>
              </a:buClr>
              <a:buSzPts val="1100"/>
              <a:buFont typeface="Arial"/>
              <a:buNone/>
            </a:pPr>
            <a:r>
              <a:rPr lang="en"/>
              <a:t>Both protocols delivered 100% of messages successfully, and the payload size is identical — about 72 bytes — because the JSON content is the same. The difference is in speed: HTTP averaged around 6100 milliseconds per round-trip, while CoAP averaged only 2.27 milliseconds. That is roughly 2700 times faster.</a:t>
            </a:r>
            <a:endParaRPr/>
          </a:p>
          <a:p>
            <a:pPr indent="0" lvl="0" marL="0" rtl="0" algn="l">
              <a:spcBef>
                <a:spcPts val="0"/>
              </a:spcBef>
              <a:spcAft>
                <a:spcPts val="0"/>
              </a:spcAft>
              <a:buClr>
                <a:schemeClr val="dk1"/>
              </a:buClr>
              <a:buSzPts val="1100"/>
              <a:buFont typeface="Arial"/>
              <a:buNone/>
            </a:pPr>
            <a:r>
              <a:rPr lang="en"/>
              <a:t>The reason for this big gap is that HTTP uses TCP, which requires connection setup, acknowledgments, and heavy headers. CoAP uses UDP with non-confirmable messages, which skips the handshake and adds almost no overhead.</a:t>
            </a:r>
            <a:endParaRPr/>
          </a:p>
          <a:p>
            <a:pPr indent="0" lvl="0" marL="0" rtl="0" algn="l">
              <a:spcBef>
                <a:spcPts val="0"/>
              </a:spcBef>
              <a:spcAft>
                <a:spcPts val="0"/>
              </a:spcAft>
              <a:buClr>
                <a:schemeClr val="dk1"/>
              </a:buClr>
              <a:buSzPts val="1100"/>
              <a:buFont typeface="Arial"/>
              <a:buNone/>
            </a:pPr>
            <a:r>
              <a:rPr lang="en"/>
              <a:t>The trade-off is clear: HTTP is more reliable and has rich header support — better for critical data. CoAP is much lighter and faster — better for high-frequency telemetry on constrained IoT devices.</a:t>
            </a:r>
            <a:endParaRPr/>
          </a:p>
          <a:p>
            <a:pPr indent="0" lvl="0" marL="0" rtl="0" algn="l">
              <a:spcBef>
                <a:spcPts val="0"/>
              </a:spcBef>
              <a:spcAft>
                <a:spcPts val="0"/>
              </a:spcAft>
              <a:buNone/>
            </a:pPr>
            <a:r>
              <a:rPr lang="en"/>
              <a:t>In my system, this is why MQTT handles events and configuration (through TCP reliability), while telemetry can use either HTTP or CoAP depending on the deployment needs.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5b6239006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f5b6239006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5b6239006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f5b6239006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To conclude, I delivered a fully working IoT system that covers every requirement of the project.</a:t>
            </a:r>
            <a:endParaRPr/>
          </a:p>
          <a:p>
            <a:pPr indent="0" lvl="0" marL="0" rtl="0" algn="l">
              <a:spcBef>
                <a:spcPts val="0"/>
              </a:spcBef>
              <a:spcAft>
                <a:spcPts val="0"/>
              </a:spcAft>
              <a:buClr>
                <a:schemeClr val="dk1"/>
              </a:buClr>
              <a:buSzPts val="1100"/>
              <a:buFont typeface="Arial"/>
              <a:buNone/>
            </a:pPr>
            <a:r>
              <a:rPr lang="en"/>
              <a:t>On the hardware side, the ESP32 runs a FreeRTOS firmware with four concurrent tasks protected by two mutexes, monitoring occupancy, noise, and light. On the communication side, I implemented all three required protocols MQTT for events and configuration, HTTP and CoAP for telemetry — with the ability to switch between them at runtime.</a:t>
            </a:r>
            <a:endParaRPr/>
          </a:p>
          <a:p>
            <a:pPr indent="0" lvl="0" marL="0" rtl="0" algn="l">
              <a:spcBef>
                <a:spcPts val="0"/>
              </a:spcBef>
              <a:spcAft>
                <a:spcPts val="0"/>
              </a:spcAft>
              <a:buClr>
                <a:schemeClr val="dk1"/>
              </a:buClr>
              <a:buSzPts val="1100"/>
              <a:buFont typeface="Arial"/>
              <a:buNone/>
            </a:pPr>
            <a:r>
              <a:rPr lang="en"/>
              <a:t>The backend uses a Python proxy that stores data in InfluxDB and visualizes it in a real-time Grafana dashboard with six panels. I also implemented ARIMA forecasting for noise, evaluated with MAE and MSE, and benchmarked HTTP against CoAP.</a:t>
            </a:r>
            <a:endParaRPr/>
          </a:p>
          <a:p>
            <a:pPr indent="0" lvl="0" marL="0" rtl="0" algn="l">
              <a:spcBef>
                <a:spcPts val="0"/>
              </a:spcBef>
              <a:spcAft>
                <a:spcPts val="0"/>
              </a:spcAft>
              <a:buClr>
                <a:schemeClr val="dk1"/>
              </a:buClr>
              <a:buSzPts val="1100"/>
              <a:buFont typeface="Arial"/>
              <a:buNone/>
            </a:pPr>
            <a:r>
              <a:rPr lang="en"/>
              <a:t>The two main findings are: first, CoAP is roughly 2700 times faster than HTTP for the same payload and same reliability — making it much better for constrained devices. Second, ARIMA works well as a short-term baseline for noise prediction, though the signal's stochastic nature limits accuracy.</a:t>
            </a:r>
            <a:endParaRPr/>
          </a:p>
          <a:p>
            <a:pPr indent="0" lvl="0" marL="0" rtl="0" algn="l">
              <a:spcBef>
                <a:spcPts val="0"/>
              </a:spcBef>
              <a:spcAft>
                <a:spcPts val="0"/>
              </a:spcAft>
              <a:buClr>
                <a:schemeClr val="dk1"/>
              </a:buClr>
              <a:buSzPts val="1100"/>
              <a:buFont typeface="Arial"/>
              <a:buNone/>
            </a:pPr>
            <a:r>
              <a:rPr lang="en"/>
              <a:t>Overall, LibraryDeskSense demonstrates a complete end-to-end IoT pipeline  from embedded sensing, to protocol-based data transport, to storage, visualization, and analysis.</a:t>
            </a:r>
            <a:endParaRPr/>
          </a:p>
          <a:p>
            <a:pPr indent="0" lvl="0" marL="0" rtl="0" algn="l">
              <a:spcBef>
                <a:spcPts val="0"/>
              </a:spcBef>
              <a:spcAft>
                <a:spcPts val="0"/>
              </a:spcAft>
              <a:buNone/>
            </a:pPr>
            <a:r>
              <a:rPr lang="en"/>
              <a:t>Thank you. I'm ready for questions and the live demo.</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6000"/>
              <a:t>LibraryDeskSense</a:t>
            </a:r>
            <a:endParaRPr sz="6000"/>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An IoT-based Monitoring System for Library study Desks</a:t>
            </a:r>
            <a:endParaRPr/>
          </a:p>
        </p:txBody>
      </p:sp>
      <p:sp>
        <p:nvSpPr>
          <p:cNvPr id="61" name="Google Shape;61;p13"/>
          <p:cNvSpPr txBox="1"/>
          <p:nvPr/>
        </p:nvSpPr>
        <p:spPr>
          <a:xfrm>
            <a:off x="331950" y="3967475"/>
            <a:ext cx="8480100" cy="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accent3"/>
                </a:solidFill>
                <a:latin typeface="Average"/>
                <a:ea typeface="Average"/>
                <a:cs typeface="Average"/>
                <a:sym typeface="Average"/>
              </a:rPr>
              <a:t>Hedi Hechmi</a:t>
            </a:r>
            <a:endParaRPr sz="1500">
              <a:solidFill>
                <a:schemeClr val="accent3"/>
              </a:solidFill>
              <a:latin typeface="Average"/>
              <a:ea typeface="Average"/>
              <a:cs typeface="Average"/>
              <a:sym typeface="Average"/>
            </a:endParaRPr>
          </a:p>
          <a:p>
            <a:pPr indent="0" lvl="0" marL="0" rtl="0" algn="l">
              <a:spcBef>
                <a:spcPts val="0"/>
              </a:spcBef>
              <a:spcAft>
                <a:spcPts val="0"/>
              </a:spcAft>
              <a:buNone/>
            </a:pPr>
            <a:r>
              <a:rPr lang="en" sz="1500">
                <a:solidFill>
                  <a:schemeClr val="accent3"/>
                </a:solidFill>
                <a:latin typeface="Average"/>
                <a:ea typeface="Average"/>
                <a:cs typeface="Average"/>
                <a:sym typeface="Average"/>
              </a:rPr>
              <a:t>Electronics</a:t>
            </a:r>
            <a:r>
              <a:rPr lang="en" sz="1500">
                <a:solidFill>
                  <a:schemeClr val="accent3"/>
                </a:solidFill>
                <a:latin typeface="Average"/>
                <a:ea typeface="Average"/>
                <a:cs typeface="Average"/>
                <a:sym typeface="Average"/>
              </a:rPr>
              <a:t> for Intelligent Systems, Big Data and Internet of Things</a:t>
            </a:r>
            <a:endParaRPr sz="1500">
              <a:solidFill>
                <a:schemeClr val="accent3"/>
              </a:solidFill>
              <a:latin typeface="Average"/>
              <a:ea typeface="Average"/>
              <a:cs typeface="Average"/>
              <a:sym typeface="Average"/>
            </a:endParaRPr>
          </a:p>
          <a:p>
            <a:pPr indent="0" lvl="0" marL="0" rtl="0" algn="l">
              <a:spcBef>
                <a:spcPts val="0"/>
              </a:spcBef>
              <a:spcAft>
                <a:spcPts val="0"/>
              </a:spcAft>
              <a:buNone/>
            </a:pPr>
            <a:r>
              <a:t/>
            </a:r>
            <a:endParaRPr sz="1500">
              <a:solidFill>
                <a:schemeClr val="accent3"/>
              </a:solidFill>
              <a:latin typeface="Average"/>
              <a:ea typeface="Average"/>
              <a:cs typeface="Average"/>
              <a:sym typeface="Average"/>
            </a:endParaRPr>
          </a:p>
          <a:p>
            <a:pPr indent="0" lvl="0" marL="0" rtl="0" algn="l">
              <a:spcBef>
                <a:spcPts val="0"/>
              </a:spcBef>
              <a:spcAft>
                <a:spcPts val="0"/>
              </a:spcAft>
              <a:buNone/>
            </a:pPr>
            <a:r>
              <a:rPr lang="en" sz="1500">
                <a:solidFill>
                  <a:schemeClr val="accent3"/>
                </a:solidFill>
                <a:latin typeface="Average"/>
                <a:ea typeface="Average"/>
                <a:cs typeface="Average"/>
                <a:sym typeface="Average"/>
              </a:rPr>
              <a:t>July 7, 2026</a:t>
            </a:r>
            <a:endParaRPr sz="1500">
              <a:solidFill>
                <a:schemeClr val="accent3"/>
              </a:solidFill>
              <a:latin typeface="Average"/>
              <a:ea typeface="Average"/>
              <a:cs typeface="Average"/>
              <a:sym typeface="Averag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a:t>Problem and Motivation</a:t>
            </a:r>
            <a:endParaRPr/>
          </a:p>
        </p:txBody>
      </p:sp>
      <p:sp>
        <p:nvSpPr>
          <p:cNvPr id="67" name="Google Shape;67;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7118"/>
              <a:t>• Libraries and study rooms are shared spaces where finding the right desk is a challenge</a:t>
            </a:r>
            <a:endParaRPr sz="7118"/>
          </a:p>
          <a:p>
            <a:pPr indent="0" lvl="0" marL="0" rtl="0" algn="l">
              <a:spcBef>
                <a:spcPts val="1200"/>
              </a:spcBef>
              <a:spcAft>
                <a:spcPts val="0"/>
              </a:spcAft>
              <a:buNone/>
            </a:pPr>
            <a:r>
              <a:rPr lang="en" sz="7118"/>
              <a:t>• Students want to know:</a:t>
            </a:r>
            <a:endParaRPr sz="7118"/>
          </a:p>
          <a:p>
            <a:pPr indent="0" lvl="0" marL="0" rtl="0" algn="l">
              <a:spcBef>
                <a:spcPts val="1200"/>
              </a:spcBef>
              <a:spcAft>
                <a:spcPts val="0"/>
              </a:spcAft>
              <a:buNone/>
            </a:pPr>
            <a:r>
              <a:rPr lang="en" sz="7118"/>
              <a:t>   - Is a desk free or occupied?</a:t>
            </a:r>
            <a:endParaRPr sz="7118"/>
          </a:p>
          <a:p>
            <a:pPr indent="0" lvl="0" marL="0" rtl="0" algn="l">
              <a:spcBef>
                <a:spcPts val="1200"/>
              </a:spcBef>
              <a:spcAft>
                <a:spcPts val="0"/>
              </a:spcAft>
              <a:buNone/>
            </a:pPr>
            <a:r>
              <a:rPr lang="en" sz="7118"/>
              <a:t>   - Is the area quiet enough to study?</a:t>
            </a:r>
            <a:endParaRPr sz="7118"/>
          </a:p>
          <a:p>
            <a:pPr indent="0" lvl="0" marL="0" rtl="0" algn="l">
              <a:spcBef>
                <a:spcPts val="1200"/>
              </a:spcBef>
              <a:spcAft>
                <a:spcPts val="0"/>
              </a:spcAft>
              <a:buNone/>
            </a:pPr>
            <a:r>
              <a:rPr lang="en" sz="7118"/>
              <a:t>   - Is the lighting good for reading?</a:t>
            </a:r>
            <a:endParaRPr sz="7118"/>
          </a:p>
          <a:p>
            <a:pPr indent="0" lvl="0" marL="0" rtl="0" algn="l">
              <a:spcBef>
                <a:spcPts val="1200"/>
              </a:spcBef>
              <a:spcAft>
                <a:spcPts val="0"/>
              </a:spcAft>
              <a:buNone/>
            </a:pPr>
            <a:r>
              <a:rPr lang="en" sz="7118"/>
              <a:t>• Traditional solutions only count people at the entrance — no desk-level info</a:t>
            </a:r>
            <a:endParaRPr sz="7118"/>
          </a:p>
          <a:p>
            <a:pPr indent="0" lvl="0" marL="0" rtl="0" algn="l">
              <a:spcBef>
                <a:spcPts val="1200"/>
              </a:spcBef>
              <a:spcAft>
                <a:spcPts val="0"/>
              </a:spcAft>
              <a:buNone/>
            </a:pPr>
            <a:r>
              <a:rPr lang="en" sz="7118"/>
              <a:t>• Our goal: build a low-cost IoT system that monitors each desk in real time</a:t>
            </a:r>
            <a:endParaRPr sz="7118"/>
          </a:p>
          <a:p>
            <a:pPr indent="0" lvl="0" marL="0" rtl="0" algn="l">
              <a:spcBef>
                <a:spcPts val="1200"/>
              </a:spcBef>
              <a:spcAft>
                <a:spcPts val="1200"/>
              </a:spcAft>
              <a:buNone/>
            </a:pPr>
            <a:r>
              <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a:t>System Architecture</a:t>
            </a:r>
            <a:endParaRPr sz="3200"/>
          </a:p>
        </p:txBody>
      </p:sp>
      <p:pic>
        <p:nvPicPr>
          <p:cNvPr id="73" name="Google Shape;73;p15" title="architecture.png.png"/>
          <p:cNvPicPr preferRelativeResize="0"/>
          <p:nvPr/>
        </p:nvPicPr>
        <p:blipFill>
          <a:blip r:embed="rId3">
            <a:alphaModFix/>
          </a:blip>
          <a:stretch>
            <a:fillRect/>
          </a:stretch>
        </p:blipFill>
        <p:spPr>
          <a:xfrm>
            <a:off x="1070375" y="1117550"/>
            <a:ext cx="7003251" cy="39414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a:t>Hardware setup</a:t>
            </a:r>
            <a:endParaRPr/>
          </a:p>
        </p:txBody>
      </p:sp>
      <p:sp>
        <p:nvSpPr>
          <p:cNvPr id="79" name="Google Shape;79;p16"/>
          <p:cNvSpPr txBox="1"/>
          <p:nvPr>
            <p:ph idx="1" type="body"/>
          </p:nvPr>
        </p:nvSpPr>
        <p:spPr>
          <a:xfrm>
            <a:off x="248825" y="1328550"/>
            <a:ext cx="85206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SzPts val="358"/>
              <a:buNone/>
            </a:pPr>
            <a:r>
              <a:rPr lang="en" sz="1911"/>
              <a:t>• ESP32 DevKit V1 microcontroller (Wi-Fi + Bluetooth, 240 MHz, 4 MB flash)</a:t>
            </a:r>
            <a:endParaRPr sz="1911"/>
          </a:p>
          <a:p>
            <a:pPr indent="0" lvl="0" marL="0" rtl="0" algn="l">
              <a:lnSpc>
                <a:spcPct val="105000"/>
              </a:lnSpc>
              <a:spcBef>
                <a:spcPts val="1200"/>
              </a:spcBef>
              <a:spcAft>
                <a:spcPts val="0"/>
              </a:spcAft>
              <a:buSzPts val="358"/>
              <a:buNone/>
            </a:pPr>
            <a:r>
              <a:rPr lang="en" sz="1911"/>
              <a:t>• HC-SR04 ultrasonic sensor → occupancy detection (GPIO 5 / 18)</a:t>
            </a:r>
            <a:endParaRPr sz="1911"/>
          </a:p>
          <a:p>
            <a:pPr indent="0" lvl="0" marL="0" rtl="0" algn="l">
              <a:lnSpc>
                <a:spcPct val="105000"/>
              </a:lnSpc>
              <a:spcBef>
                <a:spcPts val="1200"/>
              </a:spcBef>
              <a:spcAft>
                <a:spcPts val="0"/>
              </a:spcAft>
              <a:buSzPts val="358"/>
              <a:buNone/>
            </a:pPr>
            <a:r>
              <a:rPr lang="en" sz="1911"/>
              <a:t>• Analog sound sensor → noise level via ADC (GPIO 35)</a:t>
            </a:r>
            <a:endParaRPr sz="1911"/>
          </a:p>
          <a:p>
            <a:pPr indent="0" lvl="0" marL="0" rtl="0" algn="l">
              <a:lnSpc>
                <a:spcPct val="105000"/>
              </a:lnSpc>
              <a:spcBef>
                <a:spcPts val="1200"/>
              </a:spcBef>
              <a:spcAft>
                <a:spcPts val="0"/>
              </a:spcAft>
              <a:buSzPts val="358"/>
              <a:buNone/>
            </a:pPr>
            <a:r>
              <a:rPr lang="en" sz="1911"/>
              <a:t>• LDR + voltage divider → light intensity via ADC (GPIO 34)</a:t>
            </a:r>
            <a:endParaRPr sz="1911"/>
          </a:p>
          <a:p>
            <a:pPr indent="0" lvl="0" marL="0" rtl="0" algn="l">
              <a:lnSpc>
                <a:spcPct val="105000"/>
              </a:lnSpc>
              <a:spcBef>
                <a:spcPts val="1200"/>
              </a:spcBef>
              <a:spcAft>
                <a:spcPts val="0"/>
              </a:spcAft>
              <a:buSzPts val="358"/>
              <a:buNone/>
            </a:pPr>
            <a:r>
              <a:rPr lang="en" sz="1911"/>
              <a:t>• 12-bit ADC (0–4095) with 12 dB attenuation for full 3.3 V range</a:t>
            </a:r>
            <a:endParaRPr sz="1911"/>
          </a:p>
          <a:p>
            <a:pPr indent="0" lvl="0" marL="0" rtl="0" algn="l">
              <a:lnSpc>
                <a:spcPct val="105000"/>
              </a:lnSpc>
              <a:spcBef>
                <a:spcPts val="1200"/>
              </a:spcBef>
              <a:spcAft>
                <a:spcPts val="1200"/>
              </a:spcAft>
              <a:buSzPts val="358"/>
              <a:buNone/>
            </a:pPr>
            <a:r>
              <a:t/>
            </a:r>
            <a:endParaRPr sz="185"/>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idx="1" type="body"/>
          </p:nvPr>
        </p:nvSpPr>
        <p:spPr>
          <a:xfrm>
            <a:off x="1572600" y="4230575"/>
            <a:ext cx="5998800" cy="605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Circuit Diagram </a:t>
            </a:r>
            <a:endParaRPr/>
          </a:p>
        </p:txBody>
      </p:sp>
      <p:pic>
        <p:nvPicPr>
          <p:cNvPr id="85" name="Google Shape;85;p17" title="ESP32_Boards_bb.png"/>
          <p:cNvPicPr preferRelativeResize="0"/>
          <p:nvPr/>
        </p:nvPicPr>
        <p:blipFill rotWithShape="1">
          <a:blip r:embed="rId3">
            <a:alphaModFix/>
          </a:blip>
          <a:srcRect b="0" l="-465" r="25491" t="0"/>
          <a:stretch/>
        </p:blipFill>
        <p:spPr>
          <a:xfrm>
            <a:off x="1572600" y="515500"/>
            <a:ext cx="5998802" cy="3521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a:t>ESP32 Firmware — FreeRTOS Architecture</a:t>
            </a:r>
            <a:endParaRPr/>
          </a:p>
        </p:txBody>
      </p:sp>
      <p:sp>
        <p:nvSpPr>
          <p:cNvPr id="91" name="Google Shape;91;p18"/>
          <p:cNvSpPr txBox="1"/>
          <p:nvPr>
            <p:ph idx="1" type="body"/>
          </p:nvPr>
        </p:nvSpPr>
        <p:spPr>
          <a:xfrm>
            <a:off x="248825" y="1328550"/>
            <a:ext cx="8520600" cy="3416400"/>
          </a:xfrm>
          <a:prstGeom prst="rect">
            <a:avLst/>
          </a:prstGeom>
        </p:spPr>
        <p:txBody>
          <a:bodyPr anchorCtr="0" anchor="t" bIns="91425" lIns="91425" spcFirstLastPara="1" rIns="91425" wrap="square" tIns="91425">
            <a:noAutofit/>
          </a:bodyPr>
          <a:lstStyle/>
          <a:p>
            <a:pPr indent="0" lvl="0" marL="0" rtl="0" algn="l">
              <a:lnSpc>
                <a:spcPct val="85000"/>
              </a:lnSpc>
              <a:spcBef>
                <a:spcPts val="0"/>
              </a:spcBef>
              <a:spcAft>
                <a:spcPts val="0"/>
              </a:spcAft>
              <a:buSzPts val="275"/>
              <a:buNone/>
            </a:pPr>
            <a:r>
              <a:rPr lang="en" sz="1778"/>
              <a:t>• Built with ESP-IDF v5.3.5 (no Arduino) — 4 concurrent FreeRTOS tasks</a:t>
            </a:r>
            <a:endParaRPr sz="1778"/>
          </a:p>
          <a:p>
            <a:pPr indent="0" lvl="0" marL="0" rtl="0" algn="l">
              <a:lnSpc>
                <a:spcPct val="85000"/>
              </a:lnSpc>
              <a:spcBef>
                <a:spcPts val="1200"/>
              </a:spcBef>
              <a:spcAft>
                <a:spcPts val="0"/>
              </a:spcAft>
              <a:buSzPts val="275"/>
              <a:buNone/>
            </a:pPr>
            <a:r>
              <a:rPr lang="en" sz="1778"/>
              <a:t>• Occupancy Task (1s) — reads HC-SR04 distance, sets occupied flag</a:t>
            </a:r>
            <a:endParaRPr sz="1778"/>
          </a:p>
          <a:p>
            <a:pPr indent="0" lvl="0" marL="0" rtl="0" algn="l">
              <a:lnSpc>
                <a:spcPct val="85000"/>
              </a:lnSpc>
              <a:spcBef>
                <a:spcPts val="1200"/>
              </a:spcBef>
              <a:spcAft>
                <a:spcPts val="0"/>
              </a:spcAft>
              <a:buSzPts val="275"/>
              <a:buNone/>
            </a:pPr>
            <a:r>
              <a:rPr lang="en" sz="1778"/>
              <a:t>• Noise Task (500ms) — 100 rapid ADC samples, computes peak-to-peak</a:t>
            </a:r>
            <a:endParaRPr sz="1778"/>
          </a:p>
          <a:p>
            <a:pPr indent="0" lvl="0" marL="0" rtl="0" algn="l">
              <a:lnSpc>
                <a:spcPct val="85000"/>
              </a:lnSpc>
              <a:spcBef>
                <a:spcPts val="1200"/>
              </a:spcBef>
              <a:spcAft>
                <a:spcPts val="0"/>
              </a:spcAft>
              <a:buSzPts val="275"/>
              <a:buNone/>
            </a:pPr>
            <a:r>
              <a:rPr lang="en" sz="1778"/>
              <a:t>• Light Task (2s) — single ADC read from LDR voltage divider</a:t>
            </a:r>
            <a:endParaRPr sz="1778"/>
          </a:p>
          <a:p>
            <a:pPr indent="0" lvl="0" marL="0" rtl="0" algn="l">
              <a:lnSpc>
                <a:spcPct val="85000"/>
              </a:lnSpc>
              <a:spcBef>
                <a:spcPts val="1200"/>
              </a:spcBef>
              <a:spcAft>
                <a:spcPts val="0"/>
              </a:spcAft>
              <a:buSzPts val="275"/>
              <a:buNone/>
            </a:pPr>
            <a:r>
              <a:rPr lang="en" sz="1778"/>
              <a:t>• Event Task (configurable) — publishes telemetry + detects events</a:t>
            </a:r>
            <a:endParaRPr sz="1778"/>
          </a:p>
          <a:p>
            <a:pPr indent="0" lvl="0" marL="0" rtl="0" algn="l">
              <a:lnSpc>
                <a:spcPct val="85000"/>
              </a:lnSpc>
              <a:spcBef>
                <a:spcPts val="1200"/>
              </a:spcBef>
              <a:spcAft>
                <a:spcPts val="0"/>
              </a:spcAft>
              <a:buSzPts val="275"/>
              <a:buNone/>
            </a:pPr>
            <a:r>
              <a:rPr lang="en" sz="1778"/>
              <a:t>• 2 Mutexes protect shared resources:</a:t>
            </a:r>
            <a:endParaRPr sz="1778"/>
          </a:p>
          <a:p>
            <a:pPr indent="0" lvl="0" marL="0" rtl="0" algn="l">
              <a:lnSpc>
                <a:spcPct val="85000"/>
              </a:lnSpc>
              <a:spcBef>
                <a:spcPts val="1200"/>
              </a:spcBef>
              <a:spcAft>
                <a:spcPts val="0"/>
              </a:spcAft>
              <a:buSzPts val="275"/>
              <a:buNone/>
            </a:pPr>
            <a:r>
              <a:rPr lang="en" sz="1778"/>
              <a:t>   - data_mutex → shared sensor variables</a:t>
            </a:r>
            <a:endParaRPr sz="1778"/>
          </a:p>
          <a:p>
            <a:pPr indent="0" lvl="0" marL="0" rtl="0" algn="l">
              <a:lnSpc>
                <a:spcPct val="85000"/>
              </a:lnSpc>
              <a:spcBef>
                <a:spcPts val="1200"/>
              </a:spcBef>
              <a:spcAft>
                <a:spcPts val="0"/>
              </a:spcAft>
              <a:buSzPts val="275"/>
              <a:buNone/>
            </a:pPr>
            <a:r>
              <a:rPr lang="en" sz="1778"/>
              <a:t>   - adc_mutex → ADC1 hardware access</a:t>
            </a:r>
            <a:endParaRPr sz="1778"/>
          </a:p>
          <a:p>
            <a:pPr indent="0" lvl="0" marL="0" rtl="0" algn="l">
              <a:lnSpc>
                <a:spcPct val="85000"/>
              </a:lnSpc>
              <a:spcBef>
                <a:spcPts val="1200"/>
              </a:spcBef>
              <a:spcAft>
                <a:spcPts val="1200"/>
              </a:spcAft>
              <a:buSzPts val="275"/>
              <a:buNone/>
            </a:pPr>
            <a:r>
              <a:rPr lang="en" sz="1778"/>
              <a:t>• Snapshot pattern: brief lock → copy to local vars → unlock → work</a:t>
            </a:r>
            <a:endParaRPr sz="1778"/>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a:t>Communication Protocols — MQTT, HTTP, CoAP</a:t>
            </a:r>
            <a:endParaRPr/>
          </a:p>
        </p:txBody>
      </p:sp>
      <p:sp>
        <p:nvSpPr>
          <p:cNvPr id="97" name="Google Shape;97;p19"/>
          <p:cNvSpPr txBox="1"/>
          <p:nvPr>
            <p:ph idx="1" type="body"/>
          </p:nvPr>
        </p:nvSpPr>
        <p:spPr>
          <a:xfrm>
            <a:off x="248825" y="1097100"/>
            <a:ext cx="8520600" cy="3828600"/>
          </a:xfrm>
          <a:prstGeom prst="rect">
            <a:avLst/>
          </a:prstGeom>
        </p:spPr>
        <p:txBody>
          <a:bodyPr anchorCtr="0" anchor="t" bIns="91425" lIns="91425" spcFirstLastPara="1" rIns="91425" wrap="square" tIns="91425">
            <a:noAutofit/>
          </a:bodyPr>
          <a:lstStyle/>
          <a:p>
            <a:pPr indent="0" lvl="0" marL="0" rtl="0" algn="l">
              <a:lnSpc>
                <a:spcPct val="85000"/>
              </a:lnSpc>
              <a:spcBef>
                <a:spcPts val="0"/>
              </a:spcBef>
              <a:spcAft>
                <a:spcPts val="0"/>
              </a:spcAft>
              <a:buNone/>
            </a:pPr>
            <a:r>
              <a:rPr lang="en" sz="1778"/>
              <a:t>• Three protocols, each with a specific role:</a:t>
            </a:r>
            <a:endParaRPr sz="1778"/>
          </a:p>
          <a:p>
            <a:pPr indent="0" lvl="0" marL="0" rtl="0" algn="l">
              <a:lnSpc>
                <a:spcPct val="85000"/>
              </a:lnSpc>
              <a:spcBef>
                <a:spcPts val="1200"/>
              </a:spcBef>
              <a:spcAft>
                <a:spcPts val="0"/>
              </a:spcAft>
              <a:buNone/>
            </a:pPr>
            <a:r>
              <a:rPr lang="en" sz="1778"/>
              <a:t>• MQTT (TCP) — asynchronous events + runtime configuration</a:t>
            </a:r>
            <a:endParaRPr sz="1778"/>
          </a:p>
          <a:p>
            <a:pPr indent="0" lvl="0" marL="0" rtl="0" algn="l">
              <a:lnSpc>
                <a:spcPct val="85000"/>
              </a:lnSpc>
              <a:spcBef>
                <a:spcPts val="1200"/>
              </a:spcBef>
              <a:spcAft>
                <a:spcPts val="0"/>
              </a:spcAft>
              <a:buNone/>
            </a:pPr>
            <a:r>
              <a:rPr lang="en" sz="1778"/>
              <a:t>   - Publish: telemetry, occupancy, noise, lighting events</a:t>
            </a:r>
            <a:endParaRPr sz="1778"/>
          </a:p>
          <a:p>
            <a:pPr indent="0" lvl="0" marL="0" rtl="0" algn="l">
              <a:lnSpc>
                <a:spcPct val="85000"/>
              </a:lnSpc>
              <a:spcBef>
                <a:spcPts val="1200"/>
              </a:spcBef>
              <a:spcAft>
                <a:spcPts val="0"/>
              </a:spcAft>
              <a:buNone/>
            </a:pPr>
            <a:r>
              <a:rPr lang="en" sz="1778"/>
              <a:t>   - Subscribe: 5 config topics (thresholds, sampling rate, mode)</a:t>
            </a:r>
            <a:endParaRPr sz="1778"/>
          </a:p>
          <a:p>
            <a:pPr indent="0" lvl="0" marL="0" rtl="0" algn="l">
              <a:lnSpc>
                <a:spcPct val="85000"/>
              </a:lnSpc>
              <a:spcBef>
                <a:spcPts val="1200"/>
              </a:spcBef>
              <a:spcAft>
                <a:spcPts val="0"/>
              </a:spcAft>
              <a:buNone/>
            </a:pPr>
            <a:r>
              <a:rPr lang="en" sz="1778"/>
              <a:t>• HTTP (TCP) — telemetry via POST /telemetry</a:t>
            </a:r>
            <a:endParaRPr sz="1778"/>
          </a:p>
          <a:p>
            <a:pPr indent="0" lvl="0" marL="0" rtl="0" algn="l">
              <a:lnSpc>
                <a:spcPct val="85000"/>
              </a:lnSpc>
              <a:spcBef>
                <a:spcPts val="1200"/>
              </a:spcBef>
              <a:spcAft>
                <a:spcPts val="0"/>
              </a:spcAft>
              <a:buNone/>
            </a:pPr>
            <a:r>
              <a:rPr lang="en" sz="1778"/>
              <a:t>   - Reliable, heavy headers (~200–500 bytes)</a:t>
            </a:r>
            <a:endParaRPr sz="1778"/>
          </a:p>
          <a:p>
            <a:pPr indent="0" lvl="0" marL="0" rtl="0" algn="l">
              <a:lnSpc>
                <a:spcPct val="85000"/>
              </a:lnSpc>
              <a:spcBef>
                <a:spcPts val="1200"/>
              </a:spcBef>
              <a:spcAft>
                <a:spcPts val="0"/>
              </a:spcAft>
              <a:buNone/>
            </a:pPr>
            <a:r>
              <a:rPr lang="en" sz="1778"/>
              <a:t>• CoAP (UDP) — telemetry via non-confirmable POST</a:t>
            </a:r>
            <a:endParaRPr sz="1778"/>
          </a:p>
          <a:p>
            <a:pPr indent="0" lvl="0" marL="0" rtl="0" algn="l">
              <a:lnSpc>
                <a:spcPct val="85000"/>
              </a:lnSpc>
              <a:spcBef>
                <a:spcPts val="1200"/>
              </a:spcBef>
              <a:spcAft>
                <a:spcPts val="0"/>
              </a:spcAft>
              <a:buNone/>
            </a:pPr>
            <a:r>
              <a:rPr lang="en" sz="1778"/>
              <a:t>   - Lightweight (~15–50 bytes), fast, connectionless</a:t>
            </a:r>
            <a:endParaRPr sz="1778"/>
          </a:p>
          <a:p>
            <a:pPr indent="0" lvl="0" marL="0" rtl="0" algn="l">
              <a:lnSpc>
                <a:spcPct val="85000"/>
              </a:lnSpc>
              <a:spcBef>
                <a:spcPts val="1200"/>
              </a:spcBef>
              <a:spcAft>
                <a:spcPts val="0"/>
              </a:spcAft>
              <a:buNone/>
            </a:pPr>
            <a:r>
              <a:rPr lang="en" sz="1778"/>
              <a:t>• Runtime protocol switching via MQTT topic:</a:t>
            </a:r>
            <a:endParaRPr sz="1778"/>
          </a:p>
          <a:p>
            <a:pPr indent="0" lvl="0" marL="0" rtl="0" algn="l">
              <a:lnSpc>
                <a:spcPct val="85000"/>
              </a:lnSpc>
              <a:spcBef>
                <a:spcPts val="1200"/>
              </a:spcBef>
              <a:spcAft>
                <a:spcPts val="0"/>
              </a:spcAft>
              <a:buNone/>
            </a:pPr>
            <a:r>
              <a:rPr lang="en" sz="1778"/>
              <a:t>   desk/config/communication_mode → "mqtt" | "http" | "coap"</a:t>
            </a:r>
            <a:endParaRPr sz="1778"/>
          </a:p>
          <a:p>
            <a:pPr indent="0" lvl="0" marL="0" rtl="0" algn="l">
              <a:lnSpc>
                <a:spcPct val="85000"/>
              </a:lnSpc>
              <a:spcBef>
                <a:spcPts val="1200"/>
              </a:spcBef>
              <a:spcAft>
                <a:spcPts val="1200"/>
              </a:spcAft>
              <a:buSzPts val="275"/>
              <a:buNone/>
            </a:pPr>
            <a:r>
              <a:t/>
            </a:r>
            <a:endParaRPr sz="1778"/>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2318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a:t>Runtime Configuration via MQTT</a:t>
            </a:r>
            <a:endParaRPr/>
          </a:p>
        </p:txBody>
      </p:sp>
      <p:sp>
        <p:nvSpPr>
          <p:cNvPr id="103" name="Google Shape;103;p20"/>
          <p:cNvSpPr txBox="1"/>
          <p:nvPr>
            <p:ph idx="1" type="body"/>
          </p:nvPr>
        </p:nvSpPr>
        <p:spPr>
          <a:xfrm>
            <a:off x="222175" y="804500"/>
            <a:ext cx="8520600" cy="3828600"/>
          </a:xfrm>
          <a:prstGeom prst="rect">
            <a:avLst/>
          </a:prstGeom>
        </p:spPr>
        <p:txBody>
          <a:bodyPr anchorCtr="0" anchor="t" bIns="91425" lIns="91425" spcFirstLastPara="1" rIns="91425" wrap="square" tIns="91425">
            <a:noAutofit/>
          </a:bodyPr>
          <a:lstStyle/>
          <a:p>
            <a:pPr indent="0" lvl="0" marL="0" rtl="0" algn="l">
              <a:lnSpc>
                <a:spcPct val="85000"/>
              </a:lnSpc>
              <a:spcBef>
                <a:spcPts val="0"/>
              </a:spcBef>
              <a:spcAft>
                <a:spcPts val="0"/>
              </a:spcAft>
              <a:buNone/>
            </a:pPr>
            <a:r>
              <a:rPr lang="en" sz="1678"/>
              <a:t>• All key parameters can be changed live — no reflash needed</a:t>
            </a:r>
            <a:endParaRPr sz="1678"/>
          </a:p>
          <a:p>
            <a:pPr indent="0" lvl="0" marL="0" rtl="0" algn="l">
              <a:lnSpc>
                <a:spcPct val="85000"/>
              </a:lnSpc>
              <a:spcBef>
                <a:spcPts val="1200"/>
              </a:spcBef>
              <a:spcAft>
                <a:spcPts val="0"/>
              </a:spcAft>
              <a:buNone/>
            </a:pPr>
            <a:r>
              <a:rPr lang="en" sz="1678"/>
              <a:t>• 5 subscribed configuration topics:</a:t>
            </a:r>
            <a:endParaRPr sz="1678"/>
          </a:p>
          <a:p>
            <a:pPr indent="0" lvl="0" marL="0" rtl="0" algn="l">
              <a:lnSpc>
                <a:spcPct val="85000"/>
              </a:lnSpc>
              <a:spcBef>
                <a:spcPts val="1200"/>
              </a:spcBef>
              <a:spcAft>
                <a:spcPts val="0"/>
              </a:spcAft>
              <a:buNone/>
            </a:pPr>
            <a:r>
              <a:rPr lang="en" sz="1678"/>
              <a:t>   - desk/config/sampling_rate      → event loop period (ms)</a:t>
            </a:r>
            <a:endParaRPr sz="1678"/>
          </a:p>
          <a:p>
            <a:pPr indent="0" lvl="0" marL="0" rtl="0" algn="l">
              <a:lnSpc>
                <a:spcPct val="85000"/>
              </a:lnSpc>
              <a:spcBef>
                <a:spcPts val="1200"/>
              </a:spcBef>
              <a:spcAft>
                <a:spcPts val="0"/>
              </a:spcAft>
              <a:buNone/>
            </a:pPr>
            <a:r>
              <a:rPr lang="en" sz="1678"/>
              <a:t>   - desk/config/noise_thr          → high-noise threshold</a:t>
            </a:r>
            <a:endParaRPr sz="1678"/>
          </a:p>
          <a:p>
            <a:pPr indent="0" lvl="0" marL="0" rtl="0" algn="l">
              <a:lnSpc>
                <a:spcPct val="85000"/>
              </a:lnSpc>
              <a:spcBef>
                <a:spcPts val="1200"/>
              </a:spcBef>
              <a:spcAft>
                <a:spcPts val="0"/>
              </a:spcAft>
              <a:buNone/>
            </a:pPr>
            <a:r>
              <a:rPr lang="en" sz="1678"/>
              <a:t>   - desk/config/light_thr          → poor-lighting threshold</a:t>
            </a:r>
            <a:endParaRPr sz="1678"/>
          </a:p>
          <a:p>
            <a:pPr indent="0" lvl="0" marL="0" rtl="0" algn="l">
              <a:lnSpc>
                <a:spcPct val="85000"/>
              </a:lnSpc>
              <a:spcBef>
                <a:spcPts val="1200"/>
              </a:spcBef>
              <a:spcAft>
                <a:spcPts val="0"/>
              </a:spcAft>
              <a:buNone/>
            </a:pPr>
            <a:r>
              <a:rPr lang="en" sz="1678"/>
              <a:t>   - desk/config/occupancy_thr      → distance threshold (cm)</a:t>
            </a:r>
            <a:endParaRPr sz="1678"/>
          </a:p>
          <a:p>
            <a:pPr indent="0" lvl="0" marL="0" rtl="0" algn="l">
              <a:lnSpc>
                <a:spcPct val="85000"/>
              </a:lnSpc>
              <a:spcBef>
                <a:spcPts val="1200"/>
              </a:spcBef>
              <a:spcAft>
                <a:spcPts val="0"/>
              </a:spcAft>
              <a:buNone/>
            </a:pPr>
            <a:r>
              <a:rPr lang="en" sz="1678"/>
              <a:t>   - desk/config/communication_mode → mqtt / http / coap</a:t>
            </a:r>
            <a:endParaRPr sz="1678"/>
          </a:p>
          <a:p>
            <a:pPr indent="0" lvl="0" marL="0" rtl="0" algn="l">
              <a:lnSpc>
                <a:spcPct val="85000"/>
              </a:lnSpc>
              <a:spcBef>
                <a:spcPts val="1200"/>
              </a:spcBef>
              <a:spcAft>
                <a:spcPts val="0"/>
              </a:spcAft>
              <a:buNone/>
            </a:pPr>
            <a:r>
              <a:rPr lang="en" sz="1678"/>
              <a:t>• Example (change noise threshold to 300):</a:t>
            </a:r>
            <a:endParaRPr sz="1678"/>
          </a:p>
          <a:p>
            <a:pPr indent="0" lvl="0" marL="0" rtl="0" algn="l">
              <a:lnSpc>
                <a:spcPct val="85000"/>
              </a:lnSpc>
              <a:spcBef>
                <a:spcPts val="1200"/>
              </a:spcBef>
              <a:spcAft>
                <a:spcPts val="0"/>
              </a:spcAft>
              <a:buNone/>
            </a:pPr>
            <a:r>
              <a:rPr lang="en" sz="1678"/>
              <a:t>   mosquitto_pub -h localhost -t desk/config/noise_thr -m "300"</a:t>
            </a:r>
            <a:endParaRPr sz="1678"/>
          </a:p>
          <a:p>
            <a:pPr indent="0" lvl="0" marL="0" rtl="0" algn="l">
              <a:lnSpc>
                <a:spcPct val="85000"/>
              </a:lnSpc>
              <a:spcBef>
                <a:spcPts val="1200"/>
              </a:spcBef>
              <a:spcAft>
                <a:spcPts val="0"/>
              </a:spcAft>
              <a:buNone/>
            </a:pPr>
            <a:r>
              <a:rPr lang="en" sz="1678"/>
              <a:t>• ESP32 MQTT callback parses payload and updates global variable</a:t>
            </a:r>
            <a:endParaRPr sz="1678"/>
          </a:p>
          <a:p>
            <a:pPr indent="0" lvl="0" marL="0" rtl="0" algn="l">
              <a:lnSpc>
                <a:spcPct val="85000"/>
              </a:lnSpc>
              <a:spcBef>
                <a:spcPts val="1200"/>
              </a:spcBef>
              <a:spcAft>
                <a:spcPts val="0"/>
              </a:spcAft>
              <a:buNone/>
            </a:pPr>
            <a:r>
              <a:rPr lang="en" sz="1678"/>
              <a:t>• Enables live demo, adaptive tuning, and protocol switching</a:t>
            </a:r>
            <a:endParaRPr sz="1678"/>
          </a:p>
          <a:p>
            <a:pPr indent="0" lvl="0" marL="0" rtl="0" algn="l">
              <a:lnSpc>
                <a:spcPct val="85000"/>
              </a:lnSpc>
              <a:spcBef>
                <a:spcPts val="1200"/>
              </a:spcBef>
              <a:spcAft>
                <a:spcPts val="1200"/>
              </a:spcAft>
              <a:buSzPts val="275"/>
              <a:buNone/>
            </a:pPr>
            <a:r>
              <a:t/>
            </a:r>
            <a:endParaRPr sz="1378"/>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151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a:t>Backend — Python Proxy, InfluxDB, Grafana</a:t>
            </a:r>
            <a:endParaRPr/>
          </a:p>
        </p:txBody>
      </p:sp>
      <p:sp>
        <p:nvSpPr>
          <p:cNvPr id="109" name="Google Shape;109;p21"/>
          <p:cNvSpPr txBox="1"/>
          <p:nvPr>
            <p:ph idx="1" type="body"/>
          </p:nvPr>
        </p:nvSpPr>
        <p:spPr>
          <a:xfrm>
            <a:off x="222175" y="724550"/>
            <a:ext cx="8520600" cy="38286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0"/>
              </a:spcAft>
              <a:buNone/>
            </a:pPr>
            <a:r>
              <a:rPr lang="en" sz="1878"/>
              <a:t>• 3-tier backend, all running on my laptop</a:t>
            </a:r>
            <a:endParaRPr sz="1878"/>
          </a:p>
          <a:p>
            <a:pPr indent="0" lvl="0" marL="0" rtl="0" algn="l">
              <a:lnSpc>
                <a:spcPct val="70000"/>
              </a:lnSpc>
              <a:spcBef>
                <a:spcPts val="1200"/>
              </a:spcBef>
              <a:spcAft>
                <a:spcPts val="0"/>
              </a:spcAft>
              <a:buNone/>
            </a:pPr>
            <a:r>
              <a:rPr lang="en" sz="1878"/>
              <a:t>• Python Proxy (proxy.py):</a:t>
            </a:r>
            <a:endParaRPr sz="1878"/>
          </a:p>
          <a:p>
            <a:pPr indent="0" lvl="0" marL="0" rtl="0" algn="l">
              <a:lnSpc>
                <a:spcPct val="70000"/>
              </a:lnSpc>
              <a:spcBef>
                <a:spcPts val="1200"/>
              </a:spcBef>
              <a:spcAft>
                <a:spcPts val="0"/>
              </a:spcAft>
              <a:buNone/>
            </a:pPr>
            <a:r>
              <a:rPr lang="en" sz="1878"/>
              <a:t>   - MQTT subscriber → listens to desk/# topics</a:t>
            </a:r>
            <a:endParaRPr sz="1878"/>
          </a:p>
          <a:p>
            <a:pPr indent="0" lvl="0" marL="0" rtl="0" algn="l">
              <a:lnSpc>
                <a:spcPct val="70000"/>
              </a:lnSpc>
              <a:spcBef>
                <a:spcPts val="1200"/>
              </a:spcBef>
              <a:spcAft>
                <a:spcPts val="0"/>
              </a:spcAft>
              <a:buNone/>
            </a:pPr>
            <a:r>
              <a:rPr lang="en" sz="1878"/>
              <a:t>   - Flask HTTP server → POST /telemetry endpoint (port 8080)</a:t>
            </a:r>
            <a:endParaRPr sz="1878"/>
          </a:p>
          <a:p>
            <a:pPr indent="0" lvl="0" marL="0" rtl="0" algn="l">
              <a:lnSpc>
                <a:spcPct val="70000"/>
              </a:lnSpc>
              <a:spcBef>
                <a:spcPts val="1200"/>
              </a:spcBef>
              <a:spcAft>
                <a:spcPts val="0"/>
              </a:spcAft>
              <a:buNone/>
            </a:pPr>
            <a:r>
              <a:rPr lang="en" sz="1878"/>
              <a:t>   - Writes every message to InfluxDB</a:t>
            </a:r>
            <a:endParaRPr sz="1878"/>
          </a:p>
          <a:p>
            <a:pPr indent="0" lvl="0" marL="0" rtl="0" algn="l">
              <a:lnSpc>
                <a:spcPct val="70000"/>
              </a:lnSpc>
              <a:spcBef>
                <a:spcPts val="1200"/>
              </a:spcBef>
              <a:spcAft>
                <a:spcPts val="0"/>
              </a:spcAft>
              <a:buNone/>
            </a:pPr>
            <a:r>
              <a:rPr lang="en" sz="1878"/>
              <a:t>• InfluxDB 2.7 — time-series database</a:t>
            </a:r>
            <a:endParaRPr sz="1878"/>
          </a:p>
          <a:p>
            <a:pPr indent="0" lvl="0" marL="0" rtl="0" algn="l">
              <a:lnSpc>
                <a:spcPct val="70000"/>
              </a:lnSpc>
              <a:spcBef>
                <a:spcPts val="1200"/>
              </a:spcBef>
              <a:spcAft>
                <a:spcPts val="0"/>
              </a:spcAft>
              <a:buNone/>
            </a:pPr>
            <a:r>
              <a:rPr lang="en" sz="1878"/>
              <a:t>   - Org: LibraryDeskSense | Bucket: library_desk</a:t>
            </a:r>
            <a:endParaRPr sz="1878"/>
          </a:p>
          <a:p>
            <a:pPr indent="0" lvl="0" marL="0" rtl="0" algn="l">
              <a:lnSpc>
                <a:spcPct val="70000"/>
              </a:lnSpc>
              <a:spcBef>
                <a:spcPts val="1200"/>
              </a:spcBef>
              <a:spcAft>
                <a:spcPts val="0"/>
              </a:spcAft>
              <a:buNone/>
            </a:pPr>
            <a:r>
              <a:rPr lang="en" sz="1878"/>
              <a:t>   - Measurements: telemetry, event, forecast</a:t>
            </a:r>
            <a:endParaRPr sz="1878"/>
          </a:p>
          <a:p>
            <a:pPr indent="0" lvl="0" marL="0" rtl="0" algn="l">
              <a:lnSpc>
                <a:spcPct val="70000"/>
              </a:lnSpc>
              <a:spcBef>
                <a:spcPts val="1200"/>
              </a:spcBef>
              <a:spcAft>
                <a:spcPts val="0"/>
              </a:spcAft>
              <a:buNone/>
            </a:pPr>
            <a:r>
              <a:rPr lang="en" sz="1878"/>
              <a:t>• Grafana 11.4 — visualization dashboard</a:t>
            </a:r>
            <a:endParaRPr sz="2078"/>
          </a:p>
          <a:p>
            <a:pPr indent="0" lvl="0" marL="0" rtl="0" algn="l">
              <a:lnSpc>
                <a:spcPct val="70000"/>
              </a:lnSpc>
              <a:spcBef>
                <a:spcPts val="1200"/>
              </a:spcBef>
              <a:spcAft>
                <a:spcPts val="0"/>
              </a:spcAft>
              <a:buNone/>
            </a:pPr>
            <a:r>
              <a:rPr lang="en" sz="1878"/>
              <a:t>   - Flux queries against InfluxDB</a:t>
            </a:r>
            <a:endParaRPr sz="1878"/>
          </a:p>
          <a:p>
            <a:pPr indent="0" lvl="0" marL="0" rtl="0" algn="l">
              <a:lnSpc>
                <a:spcPct val="70000"/>
              </a:lnSpc>
              <a:spcBef>
                <a:spcPts val="1200"/>
              </a:spcBef>
              <a:spcAft>
                <a:spcPts val="0"/>
              </a:spcAft>
              <a:buNone/>
            </a:pPr>
            <a:r>
              <a:rPr lang="en" sz="1878"/>
              <a:t>   - 6 panels, auto-refresh every 1s</a:t>
            </a:r>
            <a:endParaRPr sz="1878"/>
          </a:p>
          <a:p>
            <a:pPr indent="0" lvl="0" marL="0" rtl="0" algn="l">
              <a:lnSpc>
                <a:spcPct val="70000"/>
              </a:lnSpc>
              <a:spcBef>
                <a:spcPts val="1200"/>
              </a:spcBef>
              <a:spcAft>
                <a:spcPts val="0"/>
              </a:spcAft>
              <a:buNone/>
            </a:pPr>
            <a:r>
              <a:rPr lang="en" sz="1878"/>
              <a:t>• Mosquitto 2.1 MQTT broker — runs as Windows service</a:t>
            </a:r>
            <a:endParaRPr sz="1878"/>
          </a:p>
          <a:p>
            <a:pPr indent="0" lvl="0" marL="0" rtl="0" algn="l">
              <a:lnSpc>
                <a:spcPct val="70000"/>
              </a:lnSpc>
              <a:spcBef>
                <a:spcPts val="1200"/>
              </a:spcBef>
              <a:spcAft>
                <a:spcPts val="1200"/>
              </a:spcAft>
              <a:buSzPts val="275"/>
              <a:buNone/>
            </a:pPr>
            <a:r>
              <a:t/>
            </a:r>
            <a:endParaRPr sz="1578"/>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231750" y="2584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a:t>Grafana Dashboard — Real-Time Monitoring</a:t>
            </a:r>
            <a:endParaRPr/>
          </a:p>
        </p:txBody>
      </p:sp>
      <p:sp>
        <p:nvSpPr>
          <p:cNvPr id="115" name="Google Shape;115;p22"/>
          <p:cNvSpPr txBox="1"/>
          <p:nvPr>
            <p:ph idx="1" type="body"/>
          </p:nvPr>
        </p:nvSpPr>
        <p:spPr>
          <a:xfrm>
            <a:off x="168850" y="1270875"/>
            <a:ext cx="8520600" cy="3122100"/>
          </a:xfrm>
          <a:prstGeom prst="rect">
            <a:avLst/>
          </a:prstGeom>
        </p:spPr>
        <p:txBody>
          <a:bodyPr anchorCtr="0" anchor="t" bIns="91425" lIns="91425" spcFirstLastPara="1" rIns="91425" wrap="square" tIns="91425">
            <a:noAutofit/>
          </a:bodyPr>
          <a:lstStyle/>
          <a:p>
            <a:pPr indent="0" lvl="0" marL="0" rtl="0" algn="l">
              <a:lnSpc>
                <a:spcPct val="86000"/>
              </a:lnSpc>
              <a:spcBef>
                <a:spcPts val="0"/>
              </a:spcBef>
              <a:spcAft>
                <a:spcPts val="0"/>
              </a:spcAft>
              <a:buNone/>
            </a:pPr>
            <a:r>
              <a:rPr lang="en" sz="1878"/>
              <a:t>• 6 live panels, refreshing every 1 second</a:t>
            </a:r>
            <a:endParaRPr sz="1878"/>
          </a:p>
          <a:p>
            <a:pPr indent="0" lvl="0" marL="0" rtl="0" algn="l">
              <a:lnSpc>
                <a:spcPct val="86000"/>
              </a:lnSpc>
              <a:spcBef>
                <a:spcPts val="1200"/>
              </a:spcBef>
              <a:spcAft>
                <a:spcPts val="0"/>
              </a:spcAft>
              <a:buNone/>
            </a:pPr>
            <a:r>
              <a:rPr lang="en" sz="1878"/>
              <a:t>• Desk Status — OCCUPIED 🪑 (red) / FREE ✅ (green)</a:t>
            </a:r>
            <a:endParaRPr sz="1878"/>
          </a:p>
          <a:p>
            <a:pPr indent="0" lvl="0" marL="0" rtl="0" algn="l">
              <a:lnSpc>
                <a:spcPct val="86000"/>
              </a:lnSpc>
              <a:spcBef>
                <a:spcPts val="1200"/>
              </a:spcBef>
              <a:spcAft>
                <a:spcPts val="0"/>
              </a:spcAft>
              <a:buNone/>
            </a:pPr>
            <a:r>
              <a:rPr lang="en" sz="1878"/>
              <a:t>• Recent Events — colored table (occupied, released, high noise, poor light)</a:t>
            </a:r>
            <a:endParaRPr sz="1878"/>
          </a:p>
          <a:p>
            <a:pPr indent="0" lvl="0" marL="0" rtl="0" algn="l">
              <a:lnSpc>
                <a:spcPct val="86000"/>
              </a:lnSpc>
              <a:spcBef>
                <a:spcPts val="1200"/>
              </a:spcBef>
              <a:spcAft>
                <a:spcPts val="0"/>
              </a:spcAft>
              <a:buNone/>
            </a:pPr>
            <a:r>
              <a:rPr lang="en" sz="1878"/>
              <a:t>• Noise Level — time series with threshold line at 200</a:t>
            </a:r>
            <a:endParaRPr sz="1878"/>
          </a:p>
          <a:p>
            <a:pPr indent="0" lvl="0" marL="0" rtl="0" algn="l">
              <a:lnSpc>
                <a:spcPct val="86000"/>
              </a:lnSpc>
              <a:spcBef>
                <a:spcPts val="1200"/>
              </a:spcBef>
              <a:spcAft>
                <a:spcPts val="0"/>
              </a:spcAft>
              <a:buNone/>
            </a:pPr>
            <a:r>
              <a:rPr lang="en" sz="1878"/>
              <a:t>• Light Intensity — time series with threshold line at 1000</a:t>
            </a:r>
            <a:endParaRPr sz="1878"/>
          </a:p>
          <a:p>
            <a:pPr indent="0" lvl="0" marL="0" rtl="0" algn="l">
              <a:lnSpc>
                <a:spcPct val="86000"/>
              </a:lnSpc>
              <a:spcBef>
                <a:spcPts val="1200"/>
              </a:spcBef>
              <a:spcAft>
                <a:spcPts val="0"/>
              </a:spcAft>
              <a:buNone/>
            </a:pPr>
            <a:r>
              <a:rPr lang="en" sz="1878"/>
              <a:t>• Desk Distance — ultrasonic reading in cm</a:t>
            </a:r>
            <a:endParaRPr sz="1878"/>
          </a:p>
          <a:p>
            <a:pPr indent="0" lvl="0" marL="0" rtl="0" algn="l">
              <a:lnSpc>
                <a:spcPct val="86000"/>
              </a:lnSpc>
              <a:spcBef>
                <a:spcPts val="1200"/>
              </a:spcBef>
              <a:spcAft>
                <a:spcPts val="0"/>
              </a:spcAft>
              <a:buNone/>
            </a:pPr>
            <a:r>
              <a:rPr lang="en" sz="1878"/>
              <a:t>• Noise: Real vs Forecast — actual data + ARIMA prediction overlay</a:t>
            </a:r>
            <a:endParaRPr sz="1878"/>
          </a:p>
          <a:p>
            <a:pPr indent="0" lvl="0" marL="0" rtl="0" algn="l">
              <a:lnSpc>
                <a:spcPct val="86000"/>
              </a:lnSpc>
              <a:spcBef>
                <a:spcPts val="1200"/>
              </a:spcBef>
              <a:spcAft>
                <a:spcPts val="1200"/>
              </a:spcAft>
              <a:buSzPts val="275"/>
              <a:buNone/>
            </a:pPr>
            <a:r>
              <a:t/>
            </a:r>
            <a:endParaRPr sz="1878"/>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 type="body"/>
          </p:nvPr>
        </p:nvSpPr>
        <p:spPr>
          <a:xfrm>
            <a:off x="3546300" y="4017375"/>
            <a:ext cx="2051400" cy="60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Grafana </a:t>
            </a:r>
            <a:r>
              <a:rPr lang="en"/>
              <a:t>dashboard</a:t>
            </a:r>
            <a:r>
              <a:rPr lang="en"/>
              <a:t> </a:t>
            </a:r>
            <a:endParaRPr/>
          </a:p>
        </p:txBody>
      </p:sp>
      <p:pic>
        <p:nvPicPr>
          <p:cNvPr id="121" name="Google Shape;121;p23" title="grafana.png"/>
          <p:cNvPicPr preferRelativeResize="0"/>
          <p:nvPr/>
        </p:nvPicPr>
        <p:blipFill>
          <a:blip r:embed="rId3">
            <a:alphaModFix/>
          </a:blip>
          <a:stretch>
            <a:fillRect/>
          </a:stretch>
        </p:blipFill>
        <p:spPr>
          <a:xfrm>
            <a:off x="684475" y="391850"/>
            <a:ext cx="7695703" cy="3712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231750" y="2584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a:t>Forecasting — ARIMA Model for Noise Prediction</a:t>
            </a:r>
            <a:endParaRPr/>
          </a:p>
        </p:txBody>
      </p:sp>
      <p:sp>
        <p:nvSpPr>
          <p:cNvPr id="127" name="Google Shape;127;p24"/>
          <p:cNvSpPr txBox="1"/>
          <p:nvPr>
            <p:ph idx="1" type="body"/>
          </p:nvPr>
        </p:nvSpPr>
        <p:spPr>
          <a:xfrm>
            <a:off x="168850" y="1270875"/>
            <a:ext cx="8520600" cy="3122100"/>
          </a:xfrm>
          <a:prstGeom prst="rect">
            <a:avLst/>
          </a:prstGeom>
        </p:spPr>
        <p:txBody>
          <a:bodyPr anchorCtr="0" anchor="t" bIns="91425" lIns="91425" spcFirstLastPara="1" rIns="91425" wrap="square" tIns="91425">
            <a:noAutofit/>
          </a:bodyPr>
          <a:lstStyle/>
          <a:p>
            <a:pPr indent="0" lvl="0" marL="0" rtl="0" algn="l">
              <a:lnSpc>
                <a:spcPct val="70000"/>
              </a:lnSpc>
              <a:spcBef>
                <a:spcPts val="0"/>
              </a:spcBef>
              <a:spcAft>
                <a:spcPts val="0"/>
              </a:spcAft>
              <a:buNone/>
            </a:pPr>
            <a:r>
              <a:rPr lang="en" sz="1878"/>
              <a:t>• Python module (forecast.py) runs every 60 seconds</a:t>
            </a:r>
            <a:endParaRPr sz="1878"/>
          </a:p>
          <a:p>
            <a:pPr indent="0" lvl="0" marL="0" rtl="0" algn="l">
              <a:lnSpc>
                <a:spcPct val="70000"/>
              </a:lnSpc>
              <a:spcBef>
                <a:spcPts val="1200"/>
              </a:spcBef>
              <a:spcAft>
                <a:spcPts val="0"/>
              </a:spcAft>
              <a:buNone/>
            </a:pPr>
            <a:r>
              <a:rPr lang="en" sz="1878"/>
              <a:t>• Reads last 30 minutes of noise data from InfluxDB</a:t>
            </a:r>
            <a:endParaRPr sz="1878"/>
          </a:p>
          <a:p>
            <a:pPr indent="0" lvl="0" marL="0" rtl="0" algn="l">
              <a:lnSpc>
                <a:spcPct val="70000"/>
              </a:lnSpc>
              <a:spcBef>
                <a:spcPts val="1200"/>
              </a:spcBef>
              <a:spcAft>
                <a:spcPts val="0"/>
              </a:spcAft>
              <a:buNone/>
            </a:pPr>
            <a:r>
              <a:rPr lang="en" sz="1878"/>
              <a:t>• ARIMA(2,1,2) — 2 AR terms, 1 differencing, 2 MA terms</a:t>
            </a:r>
            <a:endParaRPr sz="1878"/>
          </a:p>
          <a:p>
            <a:pPr indent="0" lvl="0" marL="0" rtl="0" algn="l">
              <a:lnSpc>
                <a:spcPct val="70000"/>
              </a:lnSpc>
              <a:spcBef>
                <a:spcPts val="1200"/>
              </a:spcBef>
              <a:spcAft>
                <a:spcPts val="0"/>
              </a:spcAft>
              <a:buNone/>
            </a:pPr>
            <a:r>
              <a:rPr lang="en" sz="1878"/>
              <a:t>• Train/Test split: 80% / 20% for evaluation</a:t>
            </a:r>
            <a:endParaRPr sz="1878"/>
          </a:p>
          <a:p>
            <a:pPr indent="0" lvl="0" marL="0" rtl="0" algn="l">
              <a:lnSpc>
                <a:spcPct val="70000"/>
              </a:lnSpc>
              <a:spcBef>
                <a:spcPts val="1200"/>
              </a:spcBef>
              <a:spcAft>
                <a:spcPts val="0"/>
              </a:spcAft>
              <a:buNone/>
            </a:pPr>
            <a:r>
              <a:rPr lang="en" sz="1878"/>
              <a:t>• Metrics on test set:</a:t>
            </a:r>
            <a:endParaRPr sz="1878"/>
          </a:p>
          <a:p>
            <a:pPr indent="0" lvl="0" marL="0" rtl="0" algn="l">
              <a:lnSpc>
                <a:spcPct val="70000"/>
              </a:lnSpc>
              <a:spcBef>
                <a:spcPts val="1200"/>
              </a:spcBef>
              <a:spcAft>
                <a:spcPts val="0"/>
              </a:spcAft>
              <a:buNone/>
            </a:pPr>
            <a:r>
              <a:rPr lang="en" sz="1878"/>
              <a:t>   - MAE ≈ 16.5   (avg error in noise units)</a:t>
            </a:r>
            <a:endParaRPr sz="1878"/>
          </a:p>
          <a:p>
            <a:pPr indent="0" lvl="0" marL="0" rtl="0" algn="l">
              <a:lnSpc>
                <a:spcPct val="70000"/>
              </a:lnSpc>
              <a:spcBef>
                <a:spcPts val="1200"/>
              </a:spcBef>
              <a:spcAft>
                <a:spcPts val="0"/>
              </a:spcAft>
              <a:buNone/>
            </a:pPr>
            <a:r>
              <a:rPr lang="en" sz="1878"/>
              <a:t>   - MSE ≈ 409.6</a:t>
            </a:r>
            <a:endParaRPr sz="1878"/>
          </a:p>
          <a:p>
            <a:pPr indent="0" lvl="0" marL="0" rtl="0" algn="l">
              <a:lnSpc>
                <a:spcPct val="70000"/>
              </a:lnSpc>
              <a:spcBef>
                <a:spcPts val="1200"/>
              </a:spcBef>
              <a:spcAft>
                <a:spcPts val="0"/>
              </a:spcAft>
              <a:buNone/>
            </a:pPr>
            <a:r>
              <a:rPr lang="en" sz="1878"/>
              <a:t>• Forecast: 300 future points → written back to InfluxDB</a:t>
            </a:r>
            <a:endParaRPr sz="1878"/>
          </a:p>
          <a:p>
            <a:pPr indent="0" lvl="0" marL="0" rtl="0" algn="l">
              <a:lnSpc>
                <a:spcPct val="70000"/>
              </a:lnSpc>
              <a:spcBef>
                <a:spcPts val="1200"/>
              </a:spcBef>
              <a:spcAft>
                <a:spcPts val="0"/>
              </a:spcAft>
              <a:buNone/>
            </a:pPr>
            <a:r>
              <a:rPr lang="en" sz="1878"/>
              <a:t>• Old forecasts deleted before each cycle (avoids overlap)</a:t>
            </a:r>
            <a:endParaRPr sz="1878"/>
          </a:p>
          <a:p>
            <a:pPr indent="0" lvl="0" marL="0" rtl="0" algn="l">
              <a:lnSpc>
                <a:spcPct val="70000"/>
              </a:lnSpc>
              <a:spcBef>
                <a:spcPts val="1200"/>
              </a:spcBef>
              <a:spcAft>
                <a:spcPts val="0"/>
              </a:spcAft>
              <a:buNone/>
            </a:pPr>
            <a:r>
              <a:rPr lang="en" sz="1878"/>
              <a:t>• Displayed live in Grafana: Real vs Forecast overlay</a:t>
            </a:r>
            <a:endParaRPr sz="1878"/>
          </a:p>
          <a:p>
            <a:pPr indent="0" lvl="0" marL="0" rtl="0" algn="l">
              <a:lnSpc>
                <a:spcPct val="70000"/>
              </a:lnSpc>
              <a:spcBef>
                <a:spcPts val="1200"/>
              </a:spcBef>
              <a:spcAft>
                <a:spcPts val="1200"/>
              </a:spcAft>
              <a:buSzPts val="275"/>
              <a:buNone/>
            </a:pPr>
            <a:r>
              <a:t/>
            </a:r>
            <a:endParaRPr sz="1878"/>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idx="1" type="body"/>
          </p:nvPr>
        </p:nvSpPr>
        <p:spPr>
          <a:xfrm>
            <a:off x="3546300" y="4139025"/>
            <a:ext cx="2051400" cy="60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Real vs </a:t>
            </a:r>
            <a:r>
              <a:rPr lang="en"/>
              <a:t>Forecasting</a:t>
            </a:r>
            <a:endParaRPr/>
          </a:p>
        </p:txBody>
      </p:sp>
      <p:pic>
        <p:nvPicPr>
          <p:cNvPr id="133" name="Google Shape;133;p25" title="Real vs Forecast.png"/>
          <p:cNvPicPr preferRelativeResize="0"/>
          <p:nvPr/>
        </p:nvPicPr>
        <p:blipFill rotWithShape="1">
          <a:blip r:embed="rId3">
            <a:alphaModFix/>
          </a:blip>
          <a:srcRect b="0" l="1067" r="1057" t="0"/>
          <a:stretch/>
        </p:blipFill>
        <p:spPr>
          <a:xfrm>
            <a:off x="724150" y="426450"/>
            <a:ext cx="7695703" cy="371257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ph type="title"/>
          </p:nvPr>
        </p:nvSpPr>
        <p:spPr>
          <a:xfrm>
            <a:off x="231750" y="1576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a:t>Communication Overhead — HTTP vs CoAP</a:t>
            </a:r>
            <a:endParaRPr/>
          </a:p>
        </p:txBody>
      </p:sp>
      <p:sp>
        <p:nvSpPr>
          <p:cNvPr id="139" name="Google Shape;139;p26"/>
          <p:cNvSpPr txBox="1"/>
          <p:nvPr>
            <p:ph idx="1" type="body"/>
          </p:nvPr>
        </p:nvSpPr>
        <p:spPr>
          <a:xfrm>
            <a:off x="143650" y="831150"/>
            <a:ext cx="8520600" cy="3122100"/>
          </a:xfrm>
          <a:prstGeom prst="rect">
            <a:avLst/>
          </a:prstGeom>
        </p:spPr>
        <p:txBody>
          <a:bodyPr anchorCtr="0" anchor="t" bIns="91425" lIns="91425" spcFirstLastPara="1" rIns="91425" wrap="square" tIns="91425">
            <a:noAutofit/>
          </a:bodyPr>
          <a:lstStyle/>
          <a:p>
            <a:pPr indent="0" lvl="0" marL="0" rtl="0" algn="l">
              <a:lnSpc>
                <a:spcPct val="60000"/>
              </a:lnSpc>
              <a:spcBef>
                <a:spcPts val="0"/>
              </a:spcBef>
              <a:spcAft>
                <a:spcPts val="0"/>
              </a:spcAft>
              <a:buNone/>
            </a:pPr>
            <a:r>
              <a:rPr lang="en" sz="1878"/>
              <a:t>• Python benchmark (benchmark.py) — 100 messages per protocol</a:t>
            </a:r>
            <a:endParaRPr sz="1878"/>
          </a:p>
          <a:p>
            <a:pPr indent="0" lvl="0" marL="0" rtl="0" algn="l">
              <a:lnSpc>
                <a:spcPct val="60000"/>
              </a:lnSpc>
              <a:spcBef>
                <a:spcPts val="1200"/>
              </a:spcBef>
              <a:spcAft>
                <a:spcPts val="0"/>
              </a:spcAft>
              <a:buNone/>
            </a:pPr>
            <a:r>
              <a:rPr lang="en" sz="1878"/>
              <a:t>• Identical JSON payload for fair comparison</a:t>
            </a:r>
            <a:endParaRPr sz="1878"/>
          </a:p>
          <a:p>
            <a:pPr indent="0" lvl="0" marL="0" rtl="0" algn="l">
              <a:lnSpc>
                <a:spcPct val="60000"/>
              </a:lnSpc>
              <a:spcBef>
                <a:spcPts val="1200"/>
              </a:spcBef>
              <a:spcAft>
                <a:spcPts val="0"/>
              </a:spcAft>
              <a:buNone/>
            </a:pPr>
            <a:r>
              <a:rPr lang="en" sz="1878"/>
              <a:t>• Metrics measured: RTT, payload size, success rate</a:t>
            </a:r>
            <a:endParaRPr sz="1878"/>
          </a:p>
          <a:p>
            <a:pPr indent="0" lvl="0" marL="0" rtl="0" algn="l">
              <a:lnSpc>
                <a:spcPct val="60000"/>
              </a:lnSpc>
              <a:spcBef>
                <a:spcPts val="1200"/>
              </a:spcBef>
              <a:spcAft>
                <a:spcPts val="0"/>
              </a:spcAft>
              <a:buNone/>
            </a:pPr>
            <a:r>
              <a:rPr lang="en" sz="1878"/>
              <a:t>• Results (100 messages, localhost):</a:t>
            </a:r>
            <a:endParaRPr sz="1878"/>
          </a:p>
          <a:p>
            <a:pPr indent="0" lvl="0" marL="0" rtl="0" algn="l">
              <a:lnSpc>
                <a:spcPct val="60000"/>
              </a:lnSpc>
              <a:spcBef>
                <a:spcPts val="1200"/>
              </a:spcBef>
              <a:spcAft>
                <a:spcPts val="0"/>
              </a:spcAft>
              <a:buNone/>
            </a:pPr>
            <a:r>
              <a:rPr lang="en" sz="1878"/>
              <a:t>   Metric              HTTP         CoAP</a:t>
            </a:r>
            <a:endParaRPr sz="1878"/>
          </a:p>
          <a:p>
            <a:pPr indent="0" lvl="0" marL="0" rtl="0" algn="l">
              <a:lnSpc>
                <a:spcPct val="60000"/>
              </a:lnSpc>
              <a:spcBef>
                <a:spcPts val="1200"/>
              </a:spcBef>
              <a:spcAft>
                <a:spcPts val="0"/>
              </a:spcAft>
              <a:buNone/>
            </a:pPr>
            <a:r>
              <a:rPr lang="en" sz="1878"/>
              <a:t>   -------------------------------------</a:t>
            </a:r>
            <a:endParaRPr sz="1878"/>
          </a:p>
          <a:p>
            <a:pPr indent="0" lvl="0" marL="0" rtl="0" algn="l">
              <a:lnSpc>
                <a:spcPct val="60000"/>
              </a:lnSpc>
              <a:spcBef>
                <a:spcPts val="1200"/>
              </a:spcBef>
              <a:spcAft>
                <a:spcPts val="0"/>
              </a:spcAft>
              <a:buNone/>
            </a:pPr>
            <a:r>
              <a:rPr lang="en" sz="1878"/>
              <a:t>   Success rate        100%         100%</a:t>
            </a:r>
            <a:endParaRPr sz="1878"/>
          </a:p>
          <a:p>
            <a:pPr indent="0" lvl="0" marL="0" rtl="0" algn="l">
              <a:lnSpc>
                <a:spcPct val="60000"/>
              </a:lnSpc>
              <a:spcBef>
                <a:spcPts val="1200"/>
              </a:spcBef>
              <a:spcAft>
                <a:spcPts val="0"/>
              </a:spcAft>
              <a:buNone/>
            </a:pPr>
            <a:r>
              <a:rPr lang="en" sz="1878"/>
              <a:t>   Payload (bytes)     71.9         71.9</a:t>
            </a:r>
            <a:endParaRPr sz="1878"/>
          </a:p>
          <a:p>
            <a:pPr indent="0" lvl="0" marL="0" rtl="0" algn="l">
              <a:lnSpc>
                <a:spcPct val="60000"/>
              </a:lnSpc>
              <a:spcBef>
                <a:spcPts val="1200"/>
              </a:spcBef>
              <a:spcAft>
                <a:spcPts val="0"/>
              </a:spcAft>
              <a:buNone/>
            </a:pPr>
            <a:r>
              <a:rPr lang="en" sz="1878"/>
              <a:t>   Avg RTT             6161 ms      2.27 ms</a:t>
            </a:r>
            <a:endParaRPr sz="1878"/>
          </a:p>
          <a:p>
            <a:pPr indent="0" lvl="0" marL="0" rtl="0" algn="l">
              <a:lnSpc>
                <a:spcPct val="60000"/>
              </a:lnSpc>
              <a:spcBef>
                <a:spcPts val="1200"/>
              </a:spcBef>
              <a:spcAft>
                <a:spcPts val="0"/>
              </a:spcAft>
              <a:buNone/>
            </a:pPr>
            <a:r>
              <a:rPr lang="en" sz="1878"/>
              <a:t>   Median RTT          6155 ms      1.78 ms</a:t>
            </a:r>
            <a:endParaRPr sz="1878"/>
          </a:p>
          <a:p>
            <a:pPr indent="0" lvl="0" marL="0" rtl="0" algn="l">
              <a:lnSpc>
                <a:spcPct val="60000"/>
              </a:lnSpc>
              <a:spcBef>
                <a:spcPts val="1200"/>
              </a:spcBef>
              <a:spcAft>
                <a:spcPts val="0"/>
              </a:spcAft>
              <a:buNone/>
            </a:pPr>
            <a:r>
              <a:rPr lang="en" sz="1878"/>
              <a:t>• CoAP is ~2700× faster than HTTP</a:t>
            </a:r>
            <a:endParaRPr sz="1878"/>
          </a:p>
          <a:p>
            <a:pPr indent="0" lvl="0" marL="0" rtl="0" algn="l">
              <a:lnSpc>
                <a:spcPct val="60000"/>
              </a:lnSpc>
              <a:spcBef>
                <a:spcPts val="1200"/>
              </a:spcBef>
              <a:spcAft>
                <a:spcPts val="0"/>
              </a:spcAft>
              <a:buNone/>
            </a:pPr>
            <a:r>
              <a:rPr lang="en" sz="1878"/>
              <a:t>• Both deliver 100% of messages, same payload size</a:t>
            </a:r>
            <a:endParaRPr sz="1878"/>
          </a:p>
          <a:p>
            <a:pPr indent="0" lvl="0" marL="0" rtl="0" algn="l">
              <a:lnSpc>
                <a:spcPct val="60000"/>
              </a:lnSpc>
              <a:spcBef>
                <a:spcPts val="1200"/>
              </a:spcBef>
              <a:spcAft>
                <a:spcPts val="0"/>
              </a:spcAft>
              <a:buNone/>
            </a:pPr>
            <a:r>
              <a:rPr lang="en" sz="1878"/>
              <a:t>• Trade-off: HTTP = reliable + rich headers, CoAP = fast + lightweight</a:t>
            </a:r>
            <a:endParaRPr sz="1878"/>
          </a:p>
          <a:p>
            <a:pPr indent="0" lvl="0" marL="0" rtl="0" algn="l">
              <a:lnSpc>
                <a:spcPct val="60000"/>
              </a:lnSpc>
              <a:spcBef>
                <a:spcPts val="1200"/>
              </a:spcBef>
              <a:spcAft>
                <a:spcPts val="1200"/>
              </a:spcAft>
              <a:buSzPts val="275"/>
              <a:buNone/>
            </a:pPr>
            <a:r>
              <a:t/>
            </a:r>
            <a:endParaRPr sz="1878"/>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idx="1" type="body"/>
          </p:nvPr>
        </p:nvSpPr>
        <p:spPr>
          <a:xfrm>
            <a:off x="3546300" y="4017375"/>
            <a:ext cx="2051400" cy="605100"/>
          </a:xfrm>
          <a:prstGeom prst="rect">
            <a:avLst/>
          </a:prstGeom>
        </p:spPr>
        <p:txBody>
          <a:bodyPr anchorCtr="0" anchor="ctr" bIns="91425" lIns="91425" spcFirstLastPara="1" rIns="91425" wrap="square" tIns="91425">
            <a:normAutofit fontScale="77500"/>
          </a:bodyPr>
          <a:lstStyle/>
          <a:p>
            <a:pPr indent="0" lvl="0" marL="0" rtl="0" algn="l">
              <a:spcBef>
                <a:spcPts val="0"/>
              </a:spcBef>
              <a:spcAft>
                <a:spcPts val="0"/>
              </a:spcAft>
              <a:buNone/>
            </a:pPr>
            <a:r>
              <a:rPr lang="en"/>
              <a:t>Benchmark </a:t>
            </a:r>
            <a:r>
              <a:rPr lang="en"/>
              <a:t>comparison</a:t>
            </a:r>
            <a:endParaRPr/>
          </a:p>
        </p:txBody>
      </p:sp>
      <p:pic>
        <p:nvPicPr>
          <p:cNvPr id="145" name="Google Shape;145;p27" title="benchmark_comparison.png"/>
          <p:cNvPicPr preferRelativeResize="0"/>
          <p:nvPr/>
        </p:nvPicPr>
        <p:blipFill>
          <a:blip r:embed="rId3">
            <a:alphaModFix/>
          </a:blip>
          <a:stretch>
            <a:fillRect/>
          </a:stretch>
        </p:blipFill>
        <p:spPr>
          <a:xfrm>
            <a:off x="352738" y="462800"/>
            <a:ext cx="8438526" cy="35160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ph type="title"/>
          </p:nvPr>
        </p:nvSpPr>
        <p:spPr>
          <a:xfrm>
            <a:off x="219125" y="1182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a:t>Conclusion</a:t>
            </a:r>
            <a:endParaRPr/>
          </a:p>
        </p:txBody>
      </p:sp>
      <p:sp>
        <p:nvSpPr>
          <p:cNvPr id="151" name="Google Shape;151;p28"/>
          <p:cNvSpPr txBox="1"/>
          <p:nvPr>
            <p:ph idx="1" type="body"/>
          </p:nvPr>
        </p:nvSpPr>
        <p:spPr>
          <a:xfrm>
            <a:off x="156225" y="690975"/>
            <a:ext cx="8520600" cy="3122100"/>
          </a:xfrm>
          <a:prstGeom prst="rect">
            <a:avLst/>
          </a:prstGeom>
        </p:spPr>
        <p:txBody>
          <a:bodyPr anchorCtr="0" anchor="t" bIns="91425" lIns="91425" spcFirstLastPara="1" rIns="91425" wrap="square" tIns="91425">
            <a:noAutofit/>
          </a:bodyPr>
          <a:lstStyle/>
          <a:p>
            <a:pPr indent="0" lvl="0" marL="0" rtl="0" algn="l">
              <a:lnSpc>
                <a:spcPct val="65000"/>
              </a:lnSpc>
              <a:spcBef>
                <a:spcPts val="0"/>
              </a:spcBef>
              <a:spcAft>
                <a:spcPts val="0"/>
              </a:spcAft>
              <a:buNone/>
            </a:pPr>
            <a:r>
              <a:rPr lang="en" sz="1878"/>
              <a:t>• Delivered a fully working IoT system covering all requirements:</a:t>
            </a:r>
            <a:endParaRPr sz="1878"/>
          </a:p>
          <a:p>
            <a:pPr indent="0" lvl="0" marL="0" rtl="0" algn="l">
              <a:lnSpc>
                <a:spcPct val="65000"/>
              </a:lnSpc>
              <a:spcBef>
                <a:spcPts val="1200"/>
              </a:spcBef>
              <a:spcAft>
                <a:spcPts val="0"/>
              </a:spcAft>
              <a:buNone/>
            </a:pPr>
            <a:r>
              <a:rPr lang="en" sz="1878"/>
              <a:t>   ✔ ESP32 firmware with FreeRTOS (4 tasks, 2 mutexes)</a:t>
            </a:r>
            <a:endParaRPr sz="1878"/>
          </a:p>
          <a:p>
            <a:pPr indent="0" lvl="0" marL="0" rtl="0" algn="l">
              <a:lnSpc>
                <a:spcPct val="65000"/>
              </a:lnSpc>
              <a:spcBef>
                <a:spcPts val="1200"/>
              </a:spcBef>
              <a:spcAft>
                <a:spcPts val="0"/>
              </a:spcAft>
              <a:buNone/>
            </a:pPr>
            <a:r>
              <a:rPr lang="en" sz="1878"/>
              <a:t>   ✔ 3 sensors: occupancy, noise, light</a:t>
            </a:r>
            <a:endParaRPr sz="1878"/>
          </a:p>
          <a:p>
            <a:pPr indent="0" lvl="0" marL="0" rtl="0" algn="l">
              <a:lnSpc>
                <a:spcPct val="65000"/>
              </a:lnSpc>
              <a:spcBef>
                <a:spcPts val="1200"/>
              </a:spcBef>
              <a:spcAft>
                <a:spcPts val="0"/>
              </a:spcAft>
              <a:buNone/>
            </a:pPr>
            <a:r>
              <a:rPr lang="en" sz="1878"/>
              <a:t>   ✔ 3 protocols: MQTT, HTTP, CoAP</a:t>
            </a:r>
            <a:endParaRPr sz="1878"/>
          </a:p>
          <a:p>
            <a:pPr indent="0" lvl="0" marL="0" rtl="0" algn="l">
              <a:lnSpc>
                <a:spcPct val="65000"/>
              </a:lnSpc>
              <a:spcBef>
                <a:spcPts val="1200"/>
              </a:spcBef>
              <a:spcAft>
                <a:spcPts val="0"/>
              </a:spcAft>
              <a:buNone/>
            </a:pPr>
            <a:r>
              <a:rPr lang="en" sz="1878"/>
              <a:t>   ✔ Runtime configuration via MQTT (5 parameters)</a:t>
            </a:r>
            <a:endParaRPr sz="1878"/>
          </a:p>
          <a:p>
            <a:pPr indent="0" lvl="0" marL="0" rtl="0" algn="l">
              <a:lnSpc>
                <a:spcPct val="65000"/>
              </a:lnSpc>
              <a:spcBef>
                <a:spcPts val="1200"/>
              </a:spcBef>
              <a:spcAft>
                <a:spcPts val="0"/>
              </a:spcAft>
              <a:buNone/>
            </a:pPr>
            <a:r>
              <a:rPr lang="en" sz="1878"/>
              <a:t>   ✔ Python proxy + InfluxDB + Grafana (6 panels)</a:t>
            </a:r>
            <a:endParaRPr sz="1878"/>
          </a:p>
          <a:p>
            <a:pPr indent="0" lvl="0" marL="0" rtl="0" algn="l">
              <a:lnSpc>
                <a:spcPct val="65000"/>
              </a:lnSpc>
              <a:spcBef>
                <a:spcPts val="1200"/>
              </a:spcBef>
              <a:spcAft>
                <a:spcPts val="0"/>
              </a:spcAft>
              <a:buNone/>
            </a:pPr>
            <a:r>
              <a:rPr lang="en" sz="1878"/>
              <a:t>   ✔ ARIMA forecasting with MAE/MSE evaluation</a:t>
            </a:r>
            <a:endParaRPr sz="1878"/>
          </a:p>
          <a:p>
            <a:pPr indent="0" lvl="0" marL="0" rtl="0" algn="l">
              <a:lnSpc>
                <a:spcPct val="65000"/>
              </a:lnSpc>
              <a:spcBef>
                <a:spcPts val="1200"/>
              </a:spcBef>
              <a:spcAft>
                <a:spcPts val="0"/>
              </a:spcAft>
              <a:buNone/>
            </a:pPr>
            <a:r>
              <a:rPr lang="en" sz="1878"/>
              <a:t>   ✔ HTTP vs CoAP benchmark</a:t>
            </a:r>
            <a:endParaRPr sz="1878"/>
          </a:p>
          <a:p>
            <a:pPr indent="0" lvl="0" marL="0" rtl="0" algn="l">
              <a:lnSpc>
                <a:spcPct val="65000"/>
              </a:lnSpc>
              <a:spcBef>
                <a:spcPts val="1200"/>
              </a:spcBef>
              <a:spcAft>
                <a:spcPts val="0"/>
              </a:spcAft>
              <a:buNone/>
            </a:pPr>
            <a:r>
              <a:rPr lang="en" sz="1878"/>
              <a:t>• Key findings:</a:t>
            </a:r>
            <a:endParaRPr sz="1878"/>
          </a:p>
          <a:p>
            <a:pPr indent="0" lvl="0" marL="0" rtl="0" algn="l">
              <a:lnSpc>
                <a:spcPct val="65000"/>
              </a:lnSpc>
              <a:spcBef>
                <a:spcPts val="1200"/>
              </a:spcBef>
              <a:spcAft>
                <a:spcPts val="0"/>
              </a:spcAft>
              <a:buNone/>
            </a:pPr>
            <a:r>
              <a:rPr lang="en" sz="1878"/>
              <a:t>   - CoAP ~2700× lower RTT than HTTP (same payload, same reliability)</a:t>
            </a:r>
            <a:endParaRPr sz="1878"/>
          </a:p>
          <a:p>
            <a:pPr indent="0" lvl="0" marL="0" rtl="0" algn="l">
              <a:lnSpc>
                <a:spcPct val="65000"/>
              </a:lnSpc>
              <a:spcBef>
                <a:spcPts val="1200"/>
              </a:spcBef>
              <a:spcAft>
                <a:spcPts val="0"/>
              </a:spcAft>
              <a:buNone/>
            </a:pPr>
            <a:r>
              <a:rPr lang="en" sz="1878"/>
              <a:t>   - ARIMA effective as short-term baseline for noise prediction</a:t>
            </a:r>
            <a:endParaRPr sz="1878"/>
          </a:p>
          <a:p>
            <a:pPr indent="0" lvl="0" marL="0" rtl="0" algn="l">
              <a:lnSpc>
                <a:spcPct val="65000"/>
              </a:lnSpc>
              <a:spcBef>
                <a:spcPts val="1200"/>
              </a:spcBef>
              <a:spcAft>
                <a:spcPts val="0"/>
              </a:spcAft>
              <a:buNone/>
            </a:pPr>
            <a:r>
              <a:rPr lang="en" sz="1878"/>
              <a:t>• LibraryDeskSense demonstrates a complete end-to-end IoT pipeline:</a:t>
            </a:r>
            <a:endParaRPr sz="1878"/>
          </a:p>
          <a:p>
            <a:pPr indent="0" lvl="0" marL="0" rtl="0" algn="l">
              <a:lnSpc>
                <a:spcPct val="65000"/>
              </a:lnSpc>
              <a:spcBef>
                <a:spcPts val="1200"/>
              </a:spcBef>
              <a:spcAft>
                <a:spcPts val="0"/>
              </a:spcAft>
              <a:buNone/>
            </a:pPr>
            <a:r>
              <a:rPr lang="en" sz="1878"/>
              <a:t>   from embedded sensing → to data storage → to visualization and analysis</a:t>
            </a:r>
            <a:endParaRPr sz="1878"/>
          </a:p>
          <a:p>
            <a:pPr indent="0" lvl="0" marL="0" rtl="0" algn="l">
              <a:lnSpc>
                <a:spcPct val="65000"/>
              </a:lnSpc>
              <a:spcBef>
                <a:spcPts val="1200"/>
              </a:spcBef>
              <a:spcAft>
                <a:spcPts val="1200"/>
              </a:spcAft>
              <a:buSzPts val="275"/>
              <a:buNone/>
            </a:pPr>
            <a:r>
              <a:t/>
            </a:r>
            <a:endParaRPr sz="1878"/>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